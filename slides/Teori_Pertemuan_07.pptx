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9449ddd4004390" /><Relationship Type="http://schemas.openxmlformats.org/officeDocument/2006/relationships/extended-properties" Target="/docProps/app.xml" Id="R5e079d51fe9b4913" /><Relationship Type="http://schemas.openxmlformats.org/officeDocument/2006/relationships/officeDocument" Target="/ppt/presentation.xml" Id="Rf192d0e1e44f47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c385446d3b47ab"/>
  </p:sldMasterIdLst>
  <p:notesMasterIdLst>
    <p:notesMasterId xmlns:r="http://schemas.openxmlformats.org/officeDocument/2006/relationships" r:id="R5d39bf61f1a24b84"/>
  </p:notesMasterIdLst>
  <p:sldIdLst>
    <p:sldId xmlns:r="http://schemas.openxmlformats.org/officeDocument/2006/relationships" id="256" r:id="R601d1b23d4884102"/>
    <p:sldId xmlns:r="http://schemas.openxmlformats.org/officeDocument/2006/relationships" id="257" r:id="Ra0eddfd85898411e"/>
    <p:sldId xmlns:r="http://schemas.openxmlformats.org/officeDocument/2006/relationships" id="258" r:id="Rbe93ba33945948da"/>
    <p:sldId xmlns:r="http://schemas.openxmlformats.org/officeDocument/2006/relationships" id="259" r:id="R05a1be38189d4649"/>
    <p:sldId xmlns:r="http://schemas.openxmlformats.org/officeDocument/2006/relationships" id="260" r:id="Ra0c68e2e227047c0"/>
    <p:sldId xmlns:r="http://schemas.openxmlformats.org/officeDocument/2006/relationships" id="261" r:id="R8809d249371e4dec"/>
    <p:sldId xmlns:r="http://schemas.openxmlformats.org/officeDocument/2006/relationships" id="262" r:id="R68caa44b023d444b"/>
    <p:sldId xmlns:r="http://schemas.openxmlformats.org/officeDocument/2006/relationships" id="263" r:id="Rda7389cc5253426a"/>
    <p:sldId xmlns:r="http://schemas.openxmlformats.org/officeDocument/2006/relationships" id="264" r:id="R779bec58b86f4750"/>
    <p:sldId xmlns:r="http://schemas.openxmlformats.org/officeDocument/2006/relationships" id="265" r:id="Rc2c7d25e144a4c34"/>
    <p:sldId xmlns:r="http://schemas.openxmlformats.org/officeDocument/2006/relationships" id="266" r:id="R56b60b1f0a104680"/>
    <p:sldId xmlns:r="http://schemas.openxmlformats.org/officeDocument/2006/relationships" id="267" r:id="R7ce86307e8e84f56"/>
    <p:sldId xmlns:r="http://schemas.openxmlformats.org/officeDocument/2006/relationships" id="268" r:id="Recdd84302d094a18"/>
    <p:sldId xmlns:r="http://schemas.openxmlformats.org/officeDocument/2006/relationships" id="269" r:id="R7c86c15aabc4449b"/>
    <p:sldId xmlns:r="http://schemas.openxmlformats.org/officeDocument/2006/relationships" id="270" r:id="R9e1485245e844e82"/>
    <p:sldId xmlns:r="http://schemas.openxmlformats.org/officeDocument/2006/relationships" id="271" r:id="Rf1a0a11683f14af2"/>
    <p:sldId xmlns:r="http://schemas.openxmlformats.org/officeDocument/2006/relationships" id="272" r:id="R5f8b602ebe194ddf"/>
    <p:sldId xmlns:r="http://schemas.openxmlformats.org/officeDocument/2006/relationships" id="273" r:id="R3df9436ac3a34e42"/>
    <p:sldId xmlns:r="http://schemas.openxmlformats.org/officeDocument/2006/relationships" id="274" r:id="Reb2d4a38ba9f42da"/>
    <p:sldId xmlns:r="http://schemas.openxmlformats.org/officeDocument/2006/relationships" id="275" r:id="Rdb9b95a0dfcb42a4"/>
    <p:sldId xmlns:r="http://schemas.openxmlformats.org/officeDocument/2006/relationships" id="276" r:id="Rce0e9c63c5c046c4"/>
    <p:sldId xmlns:r="http://schemas.openxmlformats.org/officeDocument/2006/relationships" id="277" r:id="R0055680fda1b4f63"/>
    <p:sldId xmlns:r="http://schemas.openxmlformats.org/officeDocument/2006/relationships" id="278" r:id="R0251466b60254add"/>
    <p:sldId xmlns:r="http://schemas.openxmlformats.org/officeDocument/2006/relationships" id="279" r:id="R39873682e5424b51"/>
    <p:sldId xmlns:r="http://schemas.openxmlformats.org/officeDocument/2006/relationships" id="280" r:id="R271d756d9ad74207"/>
    <p:sldId xmlns:r="http://schemas.openxmlformats.org/officeDocument/2006/relationships" id="281" r:id="R3a0ea1f66a6b4f2c"/>
    <p:sldId xmlns:r="http://schemas.openxmlformats.org/officeDocument/2006/relationships" id="282" r:id="R24d507b16d504155"/>
    <p:sldId xmlns:r="http://schemas.openxmlformats.org/officeDocument/2006/relationships" id="283" r:id="R6b0dd23620864cf0"/>
    <p:sldId xmlns:r="http://schemas.openxmlformats.org/officeDocument/2006/relationships" id="284" r:id="R3049fca7d00848d8"/>
    <p:sldId xmlns:r="http://schemas.openxmlformats.org/officeDocument/2006/relationships" id="285" r:id="R7f7adeb501d8410d"/>
    <p:sldId xmlns:r="http://schemas.openxmlformats.org/officeDocument/2006/relationships" id="286" r:id="R1dae0c44af264c22"/>
    <p:sldId xmlns:r="http://schemas.openxmlformats.org/officeDocument/2006/relationships" id="287" r:id="R0fef43afd2814cd3"/>
    <p:sldId xmlns:r="http://schemas.openxmlformats.org/officeDocument/2006/relationships" id="288" r:id="Rb6c53707480f48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0e0f375eb54c17" /><Relationship Type="http://schemas.openxmlformats.org/officeDocument/2006/relationships/slideMaster" Target="/ppt/slideMasters/slideMaster1.xml" Id="R86c385446d3b47ab" /><Relationship Type="http://schemas.openxmlformats.org/officeDocument/2006/relationships/notesMaster" Target="/ppt/notesMasters/notesMaster1.xml" Id="R5d39bf61f1a24b84" /><Relationship Type="http://schemas.openxmlformats.org/officeDocument/2006/relationships/presProps" Target="/ppt/presProps.xml" Id="R0ca539dc5af34244" /><Relationship Type="http://schemas.openxmlformats.org/officeDocument/2006/relationships/viewProps" Target="/ppt/viewProps.xml" Id="R17c6f6369fa646ab" /><Relationship Type="http://schemas.openxmlformats.org/officeDocument/2006/relationships/tableStyles" Target="/ppt/tableStyles.xml" Id="R873af32a1cfb4b61" /><Relationship Type="http://schemas.openxmlformats.org/officeDocument/2006/relationships/slide" Target="/ppt/slides/slide1.xml" Id="R601d1b23d4884102" /><Relationship Type="http://schemas.openxmlformats.org/officeDocument/2006/relationships/slide" Target="/ppt/slides/slide2.xml" Id="Ra0eddfd85898411e" /><Relationship Type="http://schemas.openxmlformats.org/officeDocument/2006/relationships/slide" Target="/ppt/slides/slide3.xml" Id="Rbe93ba33945948da" /><Relationship Type="http://schemas.openxmlformats.org/officeDocument/2006/relationships/slide" Target="/ppt/slides/slide4.xml" Id="R05a1be38189d4649" /><Relationship Type="http://schemas.openxmlformats.org/officeDocument/2006/relationships/slide" Target="/ppt/slides/slide5.xml" Id="Ra0c68e2e227047c0" /><Relationship Type="http://schemas.openxmlformats.org/officeDocument/2006/relationships/slide" Target="/ppt/slides/slide6.xml" Id="R8809d249371e4dec" /><Relationship Type="http://schemas.openxmlformats.org/officeDocument/2006/relationships/slide" Target="/ppt/slides/slide7.xml" Id="R68caa44b023d444b" /><Relationship Type="http://schemas.openxmlformats.org/officeDocument/2006/relationships/slide" Target="/ppt/slides/slide8.xml" Id="Rda7389cc5253426a" /><Relationship Type="http://schemas.openxmlformats.org/officeDocument/2006/relationships/slide" Target="/ppt/slides/slide9.xml" Id="R779bec58b86f4750" /><Relationship Type="http://schemas.openxmlformats.org/officeDocument/2006/relationships/slide" Target="/ppt/slides/slide10.xml" Id="Rc2c7d25e144a4c34" /><Relationship Type="http://schemas.openxmlformats.org/officeDocument/2006/relationships/slide" Target="/ppt/slides/slide11.xml" Id="R56b60b1f0a104680" /><Relationship Type="http://schemas.openxmlformats.org/officeDocument/2006/relationships/slide" Target="/ppt/slides/slide12.xml" Id="R7ce86307e8e84f56" /><Relationship Type="http://schemas.openxmlformats.org/officeDocument/2006/relationships/slide" Target="/ppt/slides/slide13.xml" Id="Recdd84302d094a18" /><Relationship Type="http://schemas.openxmlformats.org/officeDocument/2006/relationships/slide" Target="/ppt/slides/slide14.xml" Id="R7c86c15aabc4449b" /><Relationship Type="http://schemas.openxmlformats.org/officeDocument/2006/relationships/slide" Target="/ppt/slides/slide15.xml" Id="R9e1485245e844e82" /><Relationship Type="http://schemas.openxmlformats.org/officeDocument/2006/relationships/slide" Target="/ppt/slides/slide16.xml" Id="Rf1a0a11683f14af2" /><Relationship Type="http://schemas.openxmlformats.org/officeDocument/2006/relationships/slide" Target="/ppt/slides/slide17.xml" Id="R5f8b602ebe194ddf" /><Relationship Type="http://schemas.openxmlformats.org/officeDocument/2006/relationships/slide" Target="/ppt/slides/slide18.xml" Id="R3df9436ac3a34e42" /><Relationship Type="http://schemas.openxmlformats.org/officeDocument/2006/relationships/slide" Target="/ppt/slides/slide19.xml" Id="Reb2d4a38ba9f42da" /><Relationship Type="http://schemas.openxmlformats.org/officeDocument/2006/relationships/slide" Target="/ppt/slides/slide20.xml" Id="Rdb9b95a0dfcb42a4" /><Relationship Type="http://schemas.openxmlformats.org/officeDocument/2006/relationships/slide" Target="/ppt/slides/slide21.xml" Id="Rce0e9c63c5c046c4" /><Relationship Type="http://schemas.openxmlformats.org/officeDocument/2006/relationships/slide" Target="/ppt/slides/slide22.xml" Id="R0055680fda1b4f63" /><Relationship Type="http://schemas.openxmlformats.org/officeDocument/2006/relationships/slide" Target="/ppt/slides/slide23.xml" Id="R0251466b60254add" /><Relationship Type="http://schemas.openxmlformats.org/officeDocument/2006/relationships/slide" Target="/ppt/slides/slide24.xml" Id="R39873682e5424b51" /><Relationship Type="http://schemas.openxmlformats.org/officeDocument/2006/relationships/slide" Target="/ppt/slides/slide25.xml" Id="R271d756d9ad74207" /><Relationship Type="http://schemas.openxmlformats.org/officeDocument/2006/relationships/slide" Target="/ppt/slides/slide26.xml" Id="R3a0ea1f66a6b4f2c" /><Relationship Type="http://schemas.openxmlformats.org/officeDocument/2006/relationships/slide" Target="/ppt/slides/slide27.xml" Id="R24d507b16d504155" /><Relationship Type="http://schemas.openxmlformats.org/officeDocument/2006/relationships/slide" Target="/ppt/slides/slide28.xml" Id="R6b0dd23620864cf0" /><Relationship Type="http://schemas.openxmlformats.org/officeDocument/2006/relationships/slide" Target="/ppt/slides/slide29.xml" Id="R3049fca7d00848d8" /><Relationship Type="http://schemas.openxmlformats.org/officeDocument/2006/relationships/slide" Target="/ppt/slides/slide30.xml" Id="R7f7adeb501d8410d" /><Relationship Type="http://schemas.openxmlformats.org/officeDocument/2006/relationships/slide" Target="/ppt/slides/slide31.xml" Id="R1dae0c44af264c22" /><Relationship Type="http://schemas.openxmlformats.org/officeDocument/2006/relationships/slide" Target="/ppt/slides/slide32.xml" Id="R0fef43afd2814cd3" /><Relationship Type="http://schemas.openxmlformats.org/officeDocument/2006/relationships/slide" Target="/ppt/slides/slide33.xml" Id="Rb6c53707480f48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446903294a40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288cb3acb34ba6" /><Relationship Type="http://schemas.openxmlformats.org/officeDocument/2006/relationships/notesMaster" Target="/ppt/notesMasters/notesMaster1.xml" Id="R6c76f60b9ae245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98321acd794e63" /><Relationship Type="http://schemas.openxmlformats.org/officeDocument/2006/relationships/notesMaster" Target="/ppt/notesMasters/notesMaster1.xml" Id="Rbbec4f41a48d48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9c5fe1618f411f" /><Relationship Type="http://schemas.openxmlformats.org/officeDocument/2006/relationships/notesMaster" Target="/ppt/notesMasters/notesMaster1.xml" Id="R4da6b3e03fc44c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fb62c6a5c44e91" /><Relationship Type="http://schemas.openxmlformats.org/officeDocument/2006/relationships/notesMaster" Target="/ppt/notesMasters/notesMaster1.xml" Id="R4c23d7e3d6b546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3320304ef64810" /><Relationship Type="http://schemas.openxmlformats.org/officeDocument/2006/relationships/notesMaster" Target="/ppt/notesMasters/notesMaster1.xml" Id="R3667ef46c7bd4a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46be8b608042b4" /><Relationship Type="http://schemas.openxmlformats.org/officeDocument/2006/relationships/notesMaster" Target="/ppt/notesMasters/notesMaster1.xml" Id="R7b14841ee6a547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a5b9ca6ee14839" /><Relationship Type="http://schemas.openxmlformats.org/officeDocument/2006/relationships/notesMaster" Target="/ppt/notesMasters/notesMaster1.xml" Id="R9fdd1a0cacf944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37475cde1c4cbd" /><Relationship Type="http://schemas.openxmlformats.org/officeDocument/2006/relationships/notesMaster" Target="/ppt/notesMasters/notesMaster1.xml" Id="R1a5f8258a9f346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222236ccc041f5" /><Relationship Type="http://schemas.openxmlformats.org/officeDocument/2006/relationships/notesMaster" Target="/ppt/notesMasters/notesMaster1.xml" Id="R889a5997f54b45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8d824fc1fa4bf0" /><Relationship Type="http://schemas.openxmlformats.org/officeDocument/2006/relationships/notesMaster" Target="/ppt/notesMasters/notesMaster1.xml" Id="Rceb82f19d79b44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76f9e257614902" /><Relationship Type="http://schemas.openxmlformats.org/officeDocument/2006/relationships/notesMaster" Target="/ppt/notesMasters/notesMaster1.xml" Id="Rba7bae5401c84e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a5b303247f4946" /><Relationship Type="http://schemas.openxmlformats.org/officeDocument/2006/relationships/notesMaster" Target="/ppt/notesMasters/notesMaster1.xml" Id="R7fa56d24fc0f49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901facbe1f449e" /><Relationship Type="http://schemas.openxmlformats.org/officeDocument/2006/relationships/notesMaster" Target="/ppt/notesMasters/notesMaster1.xml" Id="Rf9ebc2bf7c5c44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8a43ab8dcc49bb" /><Relationship Type="http://schemas.openxmlformats.org/officeDocument/2006/relationships/notesMaster" Target="/ppt/notesMasters/notesMaster1.xml" Id="R45ee830b12584e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a003d7b6f54a9a" /><Relationship Type="http://schemas.openxmlformats.org/officeDocument/2006/relationships/notesMaster" Target="/ppt/notesMasters/notesMaster1.xml" Id="Re768bc2484904c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c9f843d561b41dc" /><Relationship Type="http://schemas.openxmlformats.org/officeDocument/2006/relationships/notesMaster" Target="/ppt/notesMasters/notesMaster1.xml" Id="Ra2fc0e6ac9e14cf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7f0e19c01ed4fdd" /><Relationship Type="http://schemas.openxmlformats.org/officeDocument/2006/relationships/notesMaster" Target="/ppt/notesMasters/notesMaster1.xml" Id="R89680485db844e3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2875712245344f4" /><Relationship Type="http://schemas.openxmlformats.org/officeDocument/2006/relationships/notesMaster" Target="/ppt/notesMasters/notesMaster1.xml" Id="Rc1d23e5cdc5447d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b551555a7204b55" /><Relationship Type="http://schemas.openxmlformats.org/officeDocument/2006/relationships/notesMaster" Target="/ppt/notesMasters/notesMaster1.xml" Id="Ra26768507467474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c5d2d0e0784439e" /><Relationship Type="http://schemas.openxmlformats.org/officeDocument/2006/relationships/notesMaster" Target="/ppt/notesMasters/notesMaster1.xml" Id="Rb50d87e9f3a04fe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555fcea71804174" /><Relationship Type="http://schemas.openxmlformats.org/officeDocument/2006/relationships/notesMaster" Target="/ppt/notesMasters/notesMaster1.xml" Id="R23cc788f18ee4d6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cfb064f40ce40c0" /><Relationship Type="http://schemas.openxmlformats.org/officeDocument/2006/relationships/notesMaster" Target="/ppt/notesMasters/notesMaster1.xml" Id="Rec5a785c30e44ba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bb35627d25d446c" /><Relationship Type="http://schemas.openxmlformats.org/officeDocument/2006/relationships/notesMaster" Target="/ppt/notesMasters/notesMaster1.xml" Id="Rb463fa8df14c4f6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638e392a1d341a8" /><Relationship Type="http://schemas.openxmlformats.org/officeDocument/2006/relationships/notesMaster" Target="/ppt/notesMasters/notesMaster1.xml" Id="R6c284a814123438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75d29394a624ce2" /><Relationship Type="http://schemas.openxmlformats.org/officeDocument/2006/relationships/notesMaster" Target="/ppt/notesMasters/notesMaster1.xml" Id="Rc56ed62f5b0040e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8bb90c1138140b6" /><Relationship Type="http://schemas.openxmlformats.org/officeDocument/2006/relationships/notesMaster" Target="/ppt/notesMasters/notesMaster1.xml" Id="R6af460320b07465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e9f957d43304a70" /><Relationship Type="http://schemas.openxmlformats.org/officeDocument/2006/relationships/notesMaster" Target="/ppt/notesMasters/notesMaster1.xml" Id="R93cabf7396764dd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898f8c5bf394075" /><Relationship Type="http://schemas.openxmlformats.org/officeDocument/2006/relationships/notesMaster" Target="/ppt/notesMasters/notesMaster1.xml" Id="R0105f12431d7456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1798b8d75af4081" /><Relationship Type="http://schemas.openxmlformats.org/officeDocument/2006/relationships/notesMaster" Target="/ppt/notesMasters/notesMaster1.xml" Id="R69b00f9dee3b421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43fbcb95a9d47bf" /><Relationship Type="http://schemas.openxmlformats.org/officeDocument/2006/relationships/notesMaster" Target="/ppt/notesMasters/notesMaster1.xml" Id="R7783457fbc2e46e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539a908bf48473e" /><Relationship Type="http://schemas.openxmlformats.org/officeDocument/2006/relationships/notesMaster" Target="/ppt/notesMasters/notesMaster1.xml" Id="R76ad84cb21b641b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5b313775159436e" /><Relationship Type="http://schemas.openxmlformats.org/officeDocument/2006/relationships/notesMaster" Target="/ppt/notesMasters/notesMaster1.xml" Id="R2663e7f5aad1445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7f8c6927a294a11" /><Relationship Type="http://schemas.openxmlformats.org/officeDocument/2006/relationships/notesMaster" Target="/ppt/notesMasters/notesMaster1.xml" Id="R1fe2a93be3b34e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Angka kuota Supabase diperiksa 8 Oktober 2026. Sumber primer: https://supabase.com/docs/guides/platform/billing-on-supabase dan https://supabase.com/pricing. Free plan dapat membatasi layanan jika kuota terlampaui; tidak otomatis menagih biaya. Periksa ulang sebelum kelas karena paket dapat berubah.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Harga dan fitur paket Supabase diperiksa 8 Oktober 2026 pada https://supabase.com/pricing. Ini snapshot untuk membandingkan pilihan; gunakan halaman resmi saat mengambil keputusan nyata. Lab 07 wajib dapat dijalankan lokal tanpa akun berbayar.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Jembatan ke Lab 07. Repo: https://github.com/SeedFlora/meet7CloudService. RPS: COMP6991031. Periksa langkah praktik dan perintah pada README repo. Bacaan: https://supabase.com/docs/guides/database/postgres/row-level-security. Video: https://www.youtube.com/watch?v=i_bPeTZVlg0.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Pemantik 2 menit: Kasus kerja: dua staf memakai database yang sama. Setiap staf hanya boleh melihat datanya sendiri, sementara tim mencari catatan serupa.</a:t>
            </a:r>
          </a:p>
          <a:p xmlns:a="http://schemas.openxmlformats.org/drawingml/2006/main">
            <a:r>
              <a:t>Tanya kelas: Prediksi: apa yang mencegah Alice membaca baris milik Bob?</a:t>
            </a:r>
          </a:p>
          <a:p xmlns:a="http://schemas.openxmlformats.org/drawingml/2006/main">
            <a:r>
              <a:t>Bacaan resmi: https://supabase.com/docs/guides/database/postgres/row-level-security</a:t>
            </a:r>
          </a:p>
          <a:p xmlns:a="http://schemas.openxmlformats.org/drawingml/2006/main">
            <a:r>
              <a:t>Video resmi: https://www.youtube.com/watch?v=i_bPeTZVlg0</a:t>
            </a:r>
          </a:p>
          <a:p xmlns:a="http://schemas.openxmlformats.org/drawingml/2006/main">
            <a:r>
              <a:t>Praktik terhubung: https://github.com/SeedFlora/meet7CloudService</a:t>
            </a:r>
          </a:p>
          <a:p xmlns:a="http://schemas.openxmlformats.org/drawingml/2006/main">
            <a:r>
              <a:t>Ilustrasi: dibuat khusus untuk materi kelas dengan imagegen, bukan foto atau bukti hasil lab. Verifikasi tautan sumber dilakukan 8 Oktober 2026; pemutaran stream video tidak diuji. Lokasi dan harga layanan dapat berubah. Untuk P08, INP menggantikan FID sebagai Core Web Vital (https://web.dev/articles/inp).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50a113b72244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ffd8e235074e3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c118d9994f44bb" /><Relationship Type="http://schemas.openxmlformats.org/officeDocument/2006/relationships/slideLayout" Target="/ppt/slideLayouts/slideLayout1.xml" Id="R0429f36e54704d73" /><Relationship Type="http://schemas.openxmlformats.org/officeDocument/2006/relationships/slideLayout" Target="/ppt/slideLayouts/slideLayout2.xml" Id="R2e5cd9b0c3c64f9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29f36e54704d73"/>
    <p:sldLayoutId xmlns:r="http://schemas.openxmlformats.org/officeDocument/2006/relationships" id="2147483650" r:id="R2e5cd9b0c3c64f9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e57656b2546d0" /><Relationship Type="http://schemas.openxmlformats.org/officeDocument/2006/relationships/image" Target="/ppt/media/image.jpeg" Id="R764b1cb099774ce6" /><Relationship Type="http://schemas.openxmlformats.org/officeDocument/2006/relationships/image" Target="/ppt/media/image.png" Id="R5f2a4234598b4704" /><Relationship Type="http://schemas.openxmlformats.org/officeDocument/2006/relationships/image" Target="/ppt/media/image2.png" Id="R167169fc4a70490c" /><Relationship Type="http://schemas.openxmlformats.org/officeDocument/2006/relationships/notesSlide" Target="/ppt/notesSlides/notesSlide1.xml" Id="R6860b401fa7d4d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56ebfba794a06" /><Relationship Type="http://schemas.openxmlformats.org/officeDocument/2006/relationships/image" Target="/ppt/media/image.png" Id="Ra158d4ccffd443d2" /><Relationship Type="http://schemas.openxmlformats.org/officeDocument/2006/relationships/image" Target="/ppt/media/image2.png" Id="Rcd94cc95df0f4c06" /><Relationship Type="http://schemas.openxmlformats.org/officeDocument/2006/relationships/image" Target="/ppt/media/image3.png" Id="R7cb4fc92abad4248" /><Relationship Type="http://schemas.openxmlformats.org/officeDocument/2006/relationships/image" Target="/ppt/media/image4.png" Id="R88589f595bb64129" /><Relationship Type="http://schemas.openxmlformats.org/officeDocument/2006/relationships/image" Target="/ppt/media/image5.png" Id="Ra829189f3c3d49c1" /><Relationship Type="http://schemas.openxmlformats.org/officeDocument/2006/relationships/image" Target="/ppt/media/image6.png" Id="R2cb890e6cd314347" /><Relationship Type="http://schemas.openxmlformats.org/officeDocument/2006/relationships/image" Target="/ppt/media/image7.png" Id="R30496dd370ec41c1" /><Relationship Type="http://schemas.openxmlformats.org/officeDocument/2006/relationships/notesSlide" Target="/ppt/notesSlides/notesSlide2.xml" Id="R27008191db464f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590c43e70418e" /><Relationship Type="http://schemas.openxmlformats.org/officeDocument/2006/relationships/image" Target="/ppt/media/image.png" Id="R1e60e8e8a1b44637" /><Relationship Type="http://schemas.openxmlformats.org/officeDocument/2006/relationships/image" Target="/ppt/media/image2.png" Id="Rd209e031d56b44d7" /><Relationship Type="http://schemas.openxmlformats.org/officeDocument/2006/relationships/image" Target="/ppt/media/image8.png" Id="Reb7019abf074420a" /><Relationship Type="http://schemas.openxmlformats.org/officeDocument/2006/relationships/image" Target="/ppt/media/image9.png" Id="R15bcb858594f4d3d" /><Relationship Type="http://schemas.openxmlformats.org/officeDocument/2006/relationships/image" Target="/ppt/media/image3.png" Id="Re6666af222bf4149" /><Relationship Type="http://schemas.openxmlformats.org/officeDocument/2006/relationships/image" Target="/ppt/media/image10.png" Id="Rb50554be47014d31" /><Relationship Type="http://schemas.openxmlformats.org/officeDocument/2006/relationships/notesSlide" Target="/ppt/notesSlides/notesSlide3.xml" Id="Rd652a32c56e044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f39c88e1e455c" /><Relationship Type="http://schemas.openxmlformats.org/officeDocument/2006/relationships/image" Target="/ppt/media/image.png" Id="R0415771bc0304860" /><Relationship Type="http://schemas.openxmlformats.org/officeDocument/2006/relationships/image" Target="/ppt/media/image2.png" Id="R0e32ade4e8e04b26" /><Relationship Type="http://schemas.openxmlformats.org/officeDocument/2006/relationships/notesSlide" Target="/ppt/notesSlides/notesSlide4.xml" Id="Rb24a48c7968048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67ed3354f44a8" /><Relationship Type="http://schemas.openxmlformats.org/officeDocument/2006/relationships/image" Target="/ppt/media/image.png" Id="R44b7b83d8be34b88" /><Relationship Type="http://schemas.openxmlformats.org/officeDocument/2006/relationships/image" Target="/ppt/media/image2.png" Id="R3ceb8786fd464c3d" /><Relationship Type="http://schemas.openxmlformats.org/officeDocument/2006/relationships/notesSlide" Target="/ppt/notesSlides/notesSlide5.xml" Id="Red97f61b8c2440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c6b61d44a44ca" /><Relationship Type="http://schemas.openxmlformats.org/officeDocument/2006/relationships/image" Target="/ppt/media/image.png" Id="Ra278f3e627a84780" /><Relationship Type="http://schemas.openxmlformats.org/officeDocument/2006/relationships/image" Target="/ppt/media/image2.png" Id="R7746d61c82324d17" /><Relationship Type="http://schemas.openxmlformats.org/officeDocument/2006/relationships/image" Target="/ppt/media/image11.png" Id="Rd055e68de66949f8" /><Relationship Type="http://schemas.openxmlformats.org/officeDocument/2006/relationships/image" Target="/ppt/media/image12.png" Id="R1ab2e9c1324148b0" /><Relationship Type="http://schemas.openxmlformats.org/officeDocument/2006/relationships/image" Target="/ppt/media/image6.png" Id="R0f82c32be3994e99" /><Relationship Type="http://schemas.openxmlformats.org/officeDocument/2006/relationships/notesSlide" Target="/ppt/notesSlides/notesSlide6.xml" Id="R29d7d159875a4c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d708b029a41fa" /><Relationship Type="http://schemas.openxmlformats.org/officeDocument/2006/relationships/image" Target="/ppt/media/image.png" Id="R016f0a76e6404705" /><Relationship Type="http://schemas.openxmlformats.org/officeDocument/2006/relationships/image" Target="/ppt/media/image2.png" Id="R30a337159bcc4968" /><Relationship Type="http://schemas.openxmlformats.org/officeDocument/2006/relationships/notesSlide" Target="/ppt/notesSlides/notesSlide7.xml" Id="Rfa1b8e247c9049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136e31c7b4e58" /><Relationship Type="http://schemas.openxmlformats.org/officeDocument/2006/relationships/image" Target="/ppt/media/image.png" Id="R3c6a6111849b473f" /><Relationship Type="http://schemas.openxmlformats.org/officeDocument/2006/relationships/image" Target="/ppt/media/image2.png" Id="R4c81d01fd4084377" /><Relationship Type="http://schemas.openxmlformats.org/officeDocument/2006/relationships/image" Target="/ppt/media/image13.png" Id="Reba686f887184058" /><Relationship Type="http://schemas.openxmlformats.org/officeDocument/2006/relationships/image" Target="/ppt/media/image14.png" Id="Re0019dc72d2343a1" /><Relationship Type="http://schemas.openxmlformats.org/officeDocument/2006/relationships/notesSlide" Target="/ppt/notesSlides/notesSlide8.xml" Id="R5094bd2e164c47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9acfe994345f6" /><Relationship Type="http://schemas.openxmlformats.org/officeDocument/2006/relationships/image" Target="/ppt/media/image.png" Id="R7e728971a0c942bf" /><Relationship Type="http://schemas.openxmlformats.org/officeDocument/2006/relationships/image" Target="/ppt/media/image2.png" Id="R577ba747113f4bb7" /><Relationship Type="http://schemas.openxmlformats.org/officeDocument/2006/relationships/image" Target="/ppt/media/image15.png" Id="R401cb555aa094501" /><Relationship Type="http://schemas.openxmlformats.org/officeDocument/2006/relationships/image" Target="/ppt/media/image16.png" Id="R89fcea5e72334cb8" /><Relationship Type="http://schemas.openxmlformats.org/officeDocument/2006/relationships/image" Target="/ppt/media/image17.png" Id="R5a41777121274a0a" /><Relationship Type="http://schemas.openxmlformats.org/officeDocument/2006/relationships/image" Target="/ppt/media/image11.png" Id="Rb3d6bf35f44549b3" /><Relationship Type="http://schemas.openxmlformats.org/officeDocument/2006/relationships/image" Target="/ppt/media/image18.png" Id="Raf6858def7164c8a" /><Relationship Type="http://schemas.openxmlformats.org/officeDocument/2006/relationships/image" Target="/ppt/media/image6.png" Id="R9c96e739b8a54f5b" /><Relationship Type="http://schemas.openxmlformats.org/officeDocument/2006/relationships/notesSlide" Target="/ppt/notesSlides/notesSlide9.xml" Id="R1adf043f886a4f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9957720694dcd" /><Relationship Type="http://schemas.openxmlformats.org/officeDocument/2006/relationships/image" Target="/ppt/media/image.png" Id="Rc967a6700cd748a2" /><Relationship Type="http://schemas.openxmlformats.org/officeDocument/2006/relationships/image" Target="/ppt/media/image2.png" Id="Rc63923a4c6004343" /><Relationship Type="http://schemas.openxmlformats.org/officeDocument/2006/relationships/image" Target="/ppt/media/image19.png" Id="R31b61c53489c4836" /><Relationship Type="http://schemas.openxmlformats.org/officeDocument/2006/relationships/image" Target="/ppt/media/image6.png" Id="Rd37a5ac3c3b84669" /><Relationship Type="http://schemas.openxmlformats.org/officeDocument/2006/relationships/image" Target="/ppt/media/image11.png" Id="R8a8f5913422748b8" /><Relationship Type="http://schemas.openxmlformats.org/officeDocument/2006/relationships/image" Target="/ppt/media/image17.png" Id="R4f1495014e3f4fc7" /><Relationship Type="http://schemas.openxmlformats.org/officeDocument/2006/relationships/notesSlide" Target="/ppt/notesSlides/notesSlide10.xml" Id="R0c33c60c5ee64e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95b1ef03346a3" /><Relationship Type="http://schemas.openxmlformats.org/officeDocument/2006/relationships/image" Target="/ppt/media/image.png" Id="R1d55b60cd9b44d7d" /><Relationship Type="http://schemas.openxmlformats.org/officeDocument/2006/relationships/image" Target="/ppt/media/image2.png" Id="Re891c23347884e46" /><Relationship Type="http://schemas.openxmlformats.org/officeDocument/2006/relationships/notesSlide" Target="/ppt/notesSlides/notesSlide11.xml" Id="Rc8f9581bdf1141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55f3cc83840a4" /><Relationship Type="http://schemas.openxmlformats.org/officeDocument/2006/relationships/image" Target="/ppt/media/image.png" Id="Re7c46073e3bc49e1" /><Relationship Type="http://schemas.openxmlformats.org/officeDocument/2006/relationships/image" Target="/ppt/media/image2.png" Id="Rcbd92487d4b342a4" /><Relationship Type="http://schemas.openxmlformats.org/officeDocument/2006/relationships/notesSlide" Target="/ppt/notesSlides/notesSlide12.xml" Id="Rf01b868cd44b4b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1d88e06f34ae8" /><Relationship Type="http://schemas.openxmlformats.org/officeDocument/2006/relationships/image" Target="/ppt/media/image.png" Id="Rfb03b7306d2943e6" /><Relationship Type="http://schemas.openxmlformats.org/officeDocument/2006/relationships/image" Target="/ppt/media/image2.png" Id="R14ed15a324f84694" /><Relationship Type="http://schemas.openxmlformats.org/officeDocument/2006/relationships/notesSlide" Target="/ppt/notesSlides/notesSlide13.xml" Id="Rd67f6fdffada4a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a3e4a86f247df" /><Relationship Type="http://schemas.openxmlformats.org/officeDocument/2006/relationships/image" Target="/ppt/media/image.png" Id="R2704191264154b9a" /><Relationship Type="http://schemas.openxmlformats.org/officeDocument/2006/relationships/image" Target="/ppt/media/image2.png" Id="Rb6a47887346d481c" /><Relationship Type="http://schemas.openxmlformats.org/officeDocument/2006/relationships/notesSlide" Target="/ppt/notesSlides/notesSlide14.xml" Id="Ree4f780a71a24b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4977a45fc4c46" /><Relationship Type="http://schemas.openxmlformats.org/officeDocument/2006/relationships/image" Target="/ppt/media/image.png" Id="R7febc93b41f244a2" /><Relationship Type="http://schemas.openxmlformats.org/officeDocument/2006/relationships/image" Target="/ppt/media/image2.png" Id="Raccb5cf0f8c04e7f" /><Relationship Type="http://schemas.openxmlformats.org/officeDocument/2006/relationships/notesSlide" Target="/ppt/notesSlides/notesSlide15.xml" Id="R43a86e9b20eb4e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01b48097c44a4" /><Relationship Type="http://schemas.openxmlformats.org/officeDocument/2006/relationships/image" Target="/ppt/media/image.png" Id="R68aaecb127f647ab" /><Relationship Type="http://schemas.openxmlformats.org/officeDocument/2006/relationships/image" Target="/ppt/media/image2.png" Id="Rd3b26a4be50b4c6b" /><Relationship Type="http://schemas.openxmlformats.org/officeDocument/2006/relationships/notesSlide" Target="/ppt/notesSlides/notesSlide16.xml" Id="Ra8269e88bdc74f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673c6c1534f31" /><Relationship Type="http://schemas.openxmlformats.org/officeDocument/2006/relationships/image" Target="/ppt/media/image.png" Id="R057eb9ac2a5748c9" /><Relationship Type="http://schemas.openxmlformats.org/officeDocument/2006/relationships/image" Target="/ppt/media/image2.png" Id="Rce3fd02a14f542c2" /><Relationship Type="http://schemas.openxmlformats.org/officeDocument/2006/relationships/image" Target="/ppt/media/image17.png" Id="R2feec887760244f0" /><Relationship Type="http://schemas.openxmlformats.org/officeDocument/2006/relationships/image" Target="/ppt/media/image20.png" Id="Rdda8ca62cc8242cb" /><Relationship Type="http://schemas.openxmlformats.org/officeDocument/2006/relationships/image" Target="/ppt/media/image21.png" Id="R1e95aa6b0bcc4a94" /><Relationship Type="http://schemas.openxmlformats.org/officeDocument/2006/relationships/notesSlide" Target="/ppt/notesSlides/notesSlide17.xml" Id="Ree2d7d42616f4c4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01824f5db427b" /><Relationship Type="http://schemas.openxmlformats.org/officeDocument/2006/relationships/image" Target="/ppt/media/image.png" Id="R7c12146992014ba2" /><Relationship Type="http://schemas.openxmlformats.org/officeDocument/2006/relationships/image" Target="/ppt/media/image2.png" Id="Rb178ea49775849ab" /><Relationship Type="http://schemas.openxmlformats.org/officeDocument/2006/relationships/notesSlide" Target="/ppt/notesSlides/notesSlide18.xml" Id="R50b5adc7a2ff44d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f767fbc4d4098" /><Relationship Type="http://schemas.openxmlformats.org/officeDocument/2006/relationships/image" Target="/ppt/media/image.png" Id="R272046c6dcf44c03" /><Relationship Type="http://schemas.openxmlformats.org/officeDocument/2006/relationships/image" Target="/ppt/media/image2.png" Id="R650ae73bef3f4c13" /><Relationship Type="http://schemas.openxmlformats.org/officeDocument/2006/relationships/notesSlide" Target="/ppt/notesSlides/notesSlide19.xml" Id="Rb05bf81b6afe43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0677884bd4d6b" /><Relationship Type="http://schemas.openxmlformats.org/officeDocument/2006/relationships/image" Target="/ppt/media/image.png" Id="R3a2a3365b894417a" /><Relationship Type="http://schemas.openxmlformats.org/officeDocument/2006/relationships/image" Target="/ppt/media/image2.png" Id="Rfbcbec2201344382" /><Relationship Type="http://schemas.openxmlformats.org/officeDocument/2006/relationships/image" Target="/ppt/media/image17.png" Id="R987ce3ed6119430b" /><Relationship Type="http://schemas.openxmlformats.org/officeDocument/2006/relationships/image" Target="/ppt/media/image11.png" Id="R09f707eb833c4b66" /><Relationship Type="http://schemas.openxmlformats.org/officeDocument/2006/relationships/image" Target="/ppt/media/image19.png" Id="R3cc7a66d2b554824" /><Relationship Type="http://schemas.openxmlformats.org/officeDocument/2006/relationships/image" Target="/ppt/media/image7.png" Id="R860a954ef82c410f" /><Relationship Type="http://schemas.openxmlformats.org/officeDocument/2006/relationships/notesSlide" Target="/ppt/notesSlides/notesSlide20.xml" Id="R5544a991869e48a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7d919ede84e52" /><Relationship Type="http://schemas.openxmlformats.org/officeDocument/2006/relationships/image" Target="/ppt/media/image.png" Id="R2c9dc33c55d845cf" /><Relationship Type="http://schemas.openxmlformats.org/officeDocument/2006/relationships/image" Target="/ppt/media/image2.png" Id="R6862f886e6ea4da5" /><Relationship Type="http://schemas.openxmlformats.org/officeDocument/2006/relationships/image" Target="/ppt/media/image21.png" Id="R4ca1c128ee0142ae" /><Relationship Type="http://schemas.openxmlformats.org/officeDocument/2006/relationships/notesSlide" Target="/ppt/notesSlides/notesSlide21.xml" Id="Rc7be87478a6947d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07a6e90cb4964" /><Relationship Type="http://schemas.openxmlformats.org/officeDocument/2006/relationships/image" Target="/ppt/media/image.png" Id="Ra90de8692c8d4255" /><Relationship Type="http://schemas.openxmlformats.org/officeDocument/2006/relationships/image" Target="/ppt/media/image2.png" Id="R5397b41874834b4e" /><Relationship Type="http://schemas.openxmlformats.org/officeDocument/2006/relationships/notesSlide" Target="/ppt/notesSlides/notesSlide22.xml" Id="R29858d73a796401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c0d6c26244cd6" /><Relationship Type="http://schemas.openxmlformats.org/officeDocument/2006/relationships/image" Target="/ppt/media/image.png" Id="R3986a438d0034087" /><Relationship Type="http://schemas.openxmlformats.org/officeDocument/2006/relationships/image" Target="/ppt/media/image2.png" Id="Rb3a3bc3f903a43e7" /><Relationship Type="http://schemas.openxmlformats.org/officeDocument/2006/relationships/notesSlide" Target="/ppt/notesSlides/notesSlide23.xml" Id="R38f1effb52c442e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71637c4f0484b" /><Relationship Type="http://schemas.openxmlformats.org/officeDocument/2006/relationships/image" Target="/ppt/media/image.png" Id="Rf88517fe3cff427d" /><Relationship Type="http://schemas.openxmlformats.org/officeDocument/2006/relationships/image" Target="/ppt/media/image2.png" Id="Ra2f0dd8e4e134e70" /><Relationship Type="http://schemas.openxmlformats.org/officeDocument/2006/relationships/image" Target="/ppt/media/image20.png" Id="Rfed615bc6a874bfb" /><Relationship Type="http://schemas.openxmlformats.org/officeDocument/2006/relationships/notesSlide" Target="/ppt/notesSlides/notesSlide24.xml" Id="R400651e83bc94e5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af5fea55b4feb" /><Relationship Type="http://schemas.openxmlformats.org/officeDocument/2006/relationships/image" Target="/ppt/media/image.png" Id="R0b8607f26ae9484e" /><Relationship Type="http://schemas.openxmlformats.org/officeDocument/2006/relationships/image" Target="/ppt/media/image2.png" Id="Rd902d82a369a4e13" /><Relationship Type="http://schemas.openxmlformats.org/officeDocument/2006/relationships/image" Target="/ppt/media/image18.png" Id="Rd192540bbcce486c" /><Relationship Type="http://schemas.openxmlformats.org/officeDocument/2006/relationships/image" Target="/ppt/media/image7.png" Id="Rbdb765f122c14683" /><Relationship Type="http://schemas.openxmlformats.org/officeDocument/2006/relationships/image" Target="/ppt/media/image11.png" Id="Red6381cfdc764b07" /><Relationship Type="http://schemas.openxmlformats.org/officeDocument/2006/relationships/image" Target="/ppt/media/image22.png" Id="R003249e276b74b6e" /><Relationship Type="http://schemas.openxmlformats.org/officeDocument/2006/relationships/image" Target="/ppt/media/image23.png" Id="Rc382747e2b084bb3" /><Relationship Type="http://schemas.openxmlformats.org/officeDocument/2006/relationships/notesSlide" Target="/ppt/notesSlides/notesSlide25.xml" Id="R35014808b5f7479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8f21dc3af4c4e" /><Relationship Type="http://schemas.openxmlformats.org/officeDocument/2006/relationships/image" Target="/ppt/media/image.png" Id="Rcbd758e7452d4ebf" /><Relationship Type="http://schemas.openxmlformats.org/officeDocument/2006/relationships/image" Target="/ppt/media/image2.png" Id="R388bbeb3d53d4929" /><Relationship Type="http://schemas.openxmlformats.org/officeDocument/2006/relationships/notesSlide" Target="/ppt/notesSlides/notesSlide26.xml" Id="Rff8ad71748c14db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1036663e34bff" /><Relationship Type="http://schemas.openxmlformats.org/officeDocument/2006/relationships/image" Target="/ppt/media/image.png" Id="Rcbab0d19eabc45a8" /><Relationship Type="http://schemas.openxmlformats.org/officeDocument/2006/relationships/image" Target="/ppt/media/image2.png" Id="R1c72bbeb6b224c58" /><Relationship Type="http://schemas.openxmlformats.org/officeDocument/2006/relationships/notesSlide" Target="/ppt/notesSlides/notesSlide27.xml" Id="R82b2f97aafc4466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cf97080b9465b" /><Relationship Type="http://schemas.openxmlformats.org/officeDocument/2006/relationships/image" Target="/ppt/media/image.png" Id="Rce524c60b29c43e6" /><Relationship Type="http://schemas.openxmlformats.org/officeDocument/2006/relationships/image" Target="/ppt/media/image2.png" Id="R651970caa4f84daa" /><Relationship Type="http://schemas.openxmlformats.org/officeDocument/2006/relationships/notesSlide" Target="/ppt/notesSlides/notesSlide28.xml" Id="Radf824f1eeff484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fc46ae43b443a" /><Relationship Type="http://schemas.openxmlformats.org/officeDocument/2006/relationships/image" Target="/ppt/media/image.png" Id="R9bf85047550b4a49" /><Relationship Type="http://schemas.openxmlformats.org/officeDocument/2006/relationships/image" Target="/ppt/media/image2.png" Id="R7a4ea2d53be244e3" /><Relationship Type="http://schemas.openxmlformats.org/officeDocument/2006/relationships/notesSlide" Target="/ppt/notesSlides/notesSlide29.xml" Id="R03417bf217f64d5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f1d8f5c8a4054" /><Relationship Type="http://schemas.openxmlformats.org/officeDocument/2006/relationships/image" Target="/ppt/media/image.png" Id="Rcf53a83c72de4e0c" /><Relationship Type="http://schemas.openxmlformats.org/officeDocument/2006/relationships/image" Target="/ppt/media/image2.png" Id="Rae2b97de914c4a83" /><Relationship Type="http://schemas.openxmlformats.org/officeDocument/2006/relationships/notesSlide" Target="/ppt/notesSlides/notesSlide30.xml" Id="Rab8d6a5c008844b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d1339a7cf4a2b" /><Relationship Type="http://schemas.openxmlformats.org/officeDocument/2006/relationships/image" Target="/ppt/media/image.png" Id="R4c139c1d505942fd" /><Relationship Type="http://schemas.openxmlformats.org/officeDocument/2006/relationships/image" Target="/ppt/media/image2.png" Id="Rcac3d23caa9e4c61" /><Relationship Type="http://schemas.openxmlformats.org/officeDocument/2006/relationships/image" Target="/ppt/media/image24.png" Id="R0712ccabc67b4890" /><Relationship Type="http://schemas.openxmlformats.org/officeDocument/2006/relationships/image" Target="/ppt/media/image25.png" Id="R993cac1a9dcf41aa" /><Relationship Type="http://schemas.openxmlformats.org/officeDocument/2006/relationships/image" Target="/ppt/media/image26.png" Id="R27308874ef474172" /><Relationship Type="http://schemas.openxmlformats.org/officeDocument/2006/relationships/notesSlide" Target="/ppt/notesSlides/notesSlide31.xml" Id="R2765de5e14ad429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28e4aafed74908" /><Relationship Type="http://schemas.openxmlformats.org/officeDocument/2006/relationships/hyperlink" Target="https://github.com/SeedFlora/meet7CloudService" TargetMode="External" Id="R7449d5a4433b40dc" /><Relationship Type="http://schemas.openxmlformats.org/officeDocument/2006/relationships/hyperlink" Target="https://github.com/SeedFlora/meet7CloudService" TargetMode="External" Id="Rfade55e50f324e77" /><Relationship Type="http://schemas.openxmlformats.org/officeDocument/2006/relationships/notesSlide" Target="/ppt/notesSlides/notesSlide32.xml" Id="R3ec2f7b20528436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51db0f8af4298" /><Relationship Type="http://schemas.openxmlformats.org/officeDocument/2006/relationships/hyperlink" Target="https://supabase.com/docs/guides/database/postgres/row-level-security" TargetMode="External" Id="Rad36b14a8f1a4912" /><Relationship Type="http://schemas.openxmlformats.org/officeDocument/2006/relationships/hyperlink" Target="https://www.youtube.com/watch?v=i_bPeTZVlg0" TargetMode="External" Id="R8746501559de4ac7" /><Relationship Type="http://schemas.openxmlformats.org/officeDocument/2006/relationships/hyperlink" Target="https://github.com/SeedFlora/meet7CloudService" TargetMode="External" Id="Rce5cfbf57a78495c" /><Relationship Type="http://schemas.openxmlformats.org/officeDocument/2006/relationships/image" Target="/ppt/media/image27.png" Id="R1b89631054d14871" /><Relationship Type="http://schemas.openxmlformats.org/officeDocument/2006/relationships/notesSlide" Target="/ppt/notesSlides/notesSlide33.xml" Id="R5a7db02f57de4f0d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64b1cb099774ce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a4234598b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169fc4a7049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841CFB9C-0AB7-426C-A3B0-6849FE1C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4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COMP6991031   |   2 SKS</a:t>
            </a:r>
            <a:endParaRPr sz="14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8242E035-AA1D-4072-ADD2-8BD487DF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11247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SUPABASE</a:t>
            </a:r>
            <a:endParaRPr sz="64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246AF36C-209C-4AF2-BA9F-CCE33DD4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1920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Postgres-as-a-Service, Auth, RLS, Realtime, Storage</a:t>
            </a:r>
            <a:endParaRPr sz="1800"/>
          </a:p>
        </p:txBody>
      </p:sp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1171A88-3304-4C50-B157-389D43E8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720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851075C-C6CA-455F-B557-801321C1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PERTEMUAN 7  |  100 MENIT</a:t>
            </a:r>
            <a:endParaRPr sz="1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9B8FF56-9284-425B-AF4A-884912FF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Budi Juarto, S.T., M.Kom.</a:t>
            </a:r>
            <a:endParaRPr sz="13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65BE746B-E814-4F3E-A2C1-F66594A0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Departemen Informatika  -  BINUS @Bandung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101120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A48E58-14D9-49B1-B2CA-A379E55D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CEFA5B1-D50B-414E-8686-932836D2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CEDE59A-D7B7-4679-A242-DF643984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8d4ccffd443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4cc95df0f4c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47B5FAE-8924-4699-A4CE-235DC758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9920C9B-28E9-4195-A8EB-BDF3D019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Recap Pertemuan 6 &amp; Agenda Hari Ini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A8AAECC-3F3D-4962-9010-8A6A468E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Dari self-hosted ke managed backend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119F946-A150-4351-9432-21AE6781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52EB243-88DB-40E2-B988-4A6909B6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DI PERTEMUAN 6, KITA SUDAH: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Docker Compose</a:t>
            </a:r>
            <a:endParaRPr sz="1100"/>
          </a:p>
        </p:txBody>
      </p:sp>
      <p:pic>
        <p:nvPicPr>
          <p:cNvPr id="4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4fc92abad42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F528EE09-CAA2-4157-B933-A4D303B0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0604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compose.yml = 1 file untuk multi-container stack</a:t>
            </a:r>
            <a:endParaRPr sz="1200"/>
          </a:p>
        </p:txBody>
      </p:sp>
      <p:pic>
        <p:nvPicPr>
          <p:cNvPr id="4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89f595bb641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3375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9F65446E-1CEE-452A-AFCD-4390DC89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4612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Service name jadi DNS - no hardcode IP</a:t>
            </a:r>
            <a:endParaRPr sz="1200"/>
          </a:p>
        </p:txBody>
      </p:sp>
      <p:pic>
        <p:nvPicPr>
          <p:cNvPr id="4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9189f3c3d49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9776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0944628C-DD2F-4038-8403-30B59EF6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8620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Named volume DB + bind mount dev hot-reload</a:t>
            </a:r>
            <a:endParaRPr sz="1200"/>
          </a:p>
        </p:txBody>
      </p:sp>
      <p:pic>
        <p:nvPicPr>
          <p:cNvPr id="4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890e6cd3143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6177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B5C8852D-66B8-4674-A0BD-29EE6552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2628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depends_on + healthcheck cegah race condition</a:t>
            </a:r>
            <a:endParaRPr sz="1200"/>
          </a:p>
        </p:txBody>
      </p:sp>
      <p:pic>
        <p:nvPicPr>
          <p:cNvPr id="5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96dd370ec41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578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8D48FADB-B2F2-4BD7-B5BF-F4237BBC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16636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Custom network = isolasi tier (frontend/backend)</a:t>
            </a:r>
            <a:endParaRPr sz="1200"/>
          </a:p>
        </p:txBody>
      </p:sp>
      <p:sp>
        <p:nvSpPr>
          <p:cNvPr id="22" name="Shape 13">
            <a:extLst xmlns:a="http://schemas.openxmlformats.org/drawingml/2006/main">
              <a:ext uri="{FF2B5EF4-FFF2-40B4-BE49-F238E27FC236}">
                <a16:creationId xmlns:a16="http://schemas.microsoft.com/office/drawing/2014/main" id="{93F35053-89BC-403B-B4F4-71EBE7C9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3" name="Text 14">
            <a:extLst xmlns:a="http://schemas.openxmlformats.org/drawingml/2006/main">
              <a:ext uri="{FF2B5EF4-FFF2-40B4-BE49-F238E27FC236}">
                <a16:creationId xmlns:a16="http://schemas.microsoft.com/office/drawing/2014/main" id="{6D1FFA68-D318-4668-A37B-B0DD99AB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HARI INI, KITA AKAN: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Supabase BaaS</a:t>
            </a:r>
            <a:endParaRPr sz="1100"/>
          </a:p>
        </p:txBody>
      </p:sp>
      <p:sp>
        <p:nvSpPr>
          <p:cNvPr id="24" name="Text 15">
            <a:extLst xmlns:a="http://schemas.openxmlformats.org/drawingml/2006/main">
              <a:ext uri="{FF2B5EF4-FFF2-40B4-BE49-F238E27FC236}">
                <a16:creationId xmlns:a16="http://schemas.microsoft.com/office/drawing/2014/main" id="{32502893-9B69-4AA2-A316-19ED4282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Apa itu BaaS - vs self-hosted vs managed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Supabase arsitektur (Postgres + 5 services)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Setup project + akses dashboard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Auto-generated REST API (PostgREST)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Auth + Row Level Security (RLS)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6. Realtime + Storage + Edge Functions</a:t>
            </a:r>
            <a:endParaRPr sz="1200"/>
          </a:p>
        </p:txBody>
      </p:sp>
      <p:sp>
        <p:nvSpPr>
          <p:cNvPr id="25" name="Text 16">
            <a:extLst xmlns:a="http://schemas.openxmlformats.org/drawingml/2006/main">
              <a:ext uri="{FF2B5EF4-FFF2-40B4-BE49-F238E27FC236}">
                <a16:creationId xmlns:a16="http://schemas.microsoft.com/office/drawing/2014/main" id="{28C28021-E606-4688-A3FB-373478C7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Lab 07: uji RLS dan pgvector lokal; Supabase menjadi jalur opsional untuk proyek kelompok.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99999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C035B18-408A-47DE-AF52-FCA3799B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1D4FA7-81C7-4B28-AE96-E45651CD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5A6B18B-F618-4CC5-BC59-7EDDB0E0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0e8e8a1b44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9e031d56b44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A64170B-50E9-4D72-9602-A5C6E747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65520EA-5E0C-4ECD-8F87-3BD4AEA9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Learning Outcomes - Pertemuan 7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3C6BDB4-163A-4E48-83B0-3DFE6F16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Capaian Sesi Hari Ini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453D200-8903-4555-AD8E-E54BDB70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E099C576-64DB-402C-A4AA-542FEF62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B029F25-FEB0-44AE-ACB9-CA2799AC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407A6FDB-41BB-4D30-B7AE-4387ACA8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200"/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019abf07442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0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73A11D7F-6099-4FD2-BB62-2276F965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Membedakan</a:t>
            </a:r>
            <a:endParaRPr sz="18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707BA7AE-C3F4-4B5D-B31A-76263E83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self-hosted vs managed service vs BaaS + tradeoff masing-masing.</a:t>
            </a:r>
            <a:endParaRPr sz="12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39E8894C-17EE-4BB4-9345-4F7BAA4A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AA0C6B32-DE26-4F69-A8F0-DA3BB52E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56156E4F-178C-486D-86F3-9F092277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BA72299C-CF81-42C2-8D5A-2D8DC358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200"/>
          </a:p>
        </p:txBody>
      </p:sp>
      <p:pic>
        <p:nvPicPr>
          <p:cNvPr id="6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cb858594f4d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8072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7A663177-FDA6-4510-BB7A-6117FB17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Mengkonfigurasi</a:t>
            </a:r>
            <a:endParaRPr sz="18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DD1CD265-DC86-4261-A937-D8777D19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project Supabase + schema database lewat dashboard dan SQL Editor.</a:t>
            </a:r>
            <a:endParaRPr sz="12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D79C9F3A-859E-426D-9CBA-D167089C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7062869C-B344-4355-B299-0A728B64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57E289E5-6086-433B-93B4-60FAB06C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D9B2DE0F-ABCE-4CEA-84D7-9AD18387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200"/>
          </a:p>
        </p:txBody>
      </p:sp>
      <p:pic>
        <p:nvPicPr>
          <p:cNvPr id="7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66af222bf41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0144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0AF00237-376D-4E78-B493-2DCD464C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Mengkonsumsi</a:t>
            </a:r>
            <a:endParaRPr sz="18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E762A43B-95AD-42D4-946A-1934E18A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auto-generated REST API + Realtime subscription dari client app.</a:t>
            </a:r>
            <a:endParaRPr sz="12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8546A7B3-73B5-44F0-BC66-2A0CA024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F2A51D48-FD20-459A-8015-A7BB1B4A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8AC1A115-1D91-4430-89D3-483665B6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5B6F7BB9-A5F9-4975-831D-6179366A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200"/>
          </a:p>
        </p:txBody>
      </p:sp>
      <p:pic>
        <p:nvPicPr>
          <p:cNvPr id="7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554be47014d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72216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02782C3E-A9E8-4A3F-98FE-E13B6BFE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Mengimplementasi</a:t>
            </a:r>
            <a:endParaRPr sz="1800"/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1333493D-7A06-4A78-A1C4-09023A34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Row Level Security (RLS) untuk authorize akses data per user.</a:t>
            </a:r>
            <a:endParaRPr sz="1200"/>
          </a:p>
        </p:txBody>
      </p:sp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F081F56C-DA4B-4506-BDE9-AF10B1B4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50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Sesi ini mendukung:  </a:t>
            </a:r>
            <a:r>
              <a:rPr sz="1100" b="1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LO2 (Apply – build cloud-native app dengan managed Postgres)  +  LO1 (Analyze – pilih BaaS vs self-hosted)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311370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8B9C161-55E4-4482-BA8E-9B3194F5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15E647F-68D5-41EC-A10B-29DEFCB3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82E77E2-25AA-4CA7-B81D-C264B66A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1C98C62-2D43-4170-B66A-A22C36A0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A9A1F44-0E92-419C-B460-09486202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5146833-45EC-4FC2-92C7-C6215A71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89A7CCF-9348-4F95-91F1-5BB0B3DC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5771bc03048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2ade4e8e04b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8892C1D-B7CA-41D6-99C7-D7F36302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01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C306B5C4-6F2E-456F-AA6C-A2AF2375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Backend as a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Service (BaaS)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D1F8C3E-9E8E-4362-8075-91D63E50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32B573E-4D7D-4CC8-AABB-131B9F55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Spektrum: self-hosted -&gt; managed -&gt; BaaS. Pilih yang sesuai stage project.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452088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92943F-6139-4D85-AF00-7EDE6930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BAAB3B-9C00-491F-8939-1629F527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BDE8583-8EFD-4CA8-B027-B4F4F3DB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7b83d8be34b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b8786fd464c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435D571-0B3A-4EBA-9E4B-CDE23088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02CAA77-188B-4930-93FC-72A5DEA6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Spektrum: Self-Hosted -&gt; Managed -&gt; BaaS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9EC2886-5D0A-4CF0-8171-806A7B2A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Trade-off: kontrol vs kecepatan development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7BC9996-D012-4665-8AC7-7F10CF8E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E735B0E-22DD-40B9-AEED-57E2C295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D5DF614-BC9E-498D-B1ED-AC2B31DB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Self-Hosted</a:t>
            </a:r>
            <a:endParaRPr sz="2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DE4E5309-C1D8-49A7-B98B-0A32BFA1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3429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Anda kelola SEMUA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B4586428-9E4E-468D-B78B-BEC451DC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3337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VPS + install Postgres + setup Nginx + bikin API server + auth manual</a:t>
            </a:r>
            <a:endParaRPr sz="11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C26F9385-0DD1-4388-B542-5DCF555B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EC858F5-6545-48B9-A6F9-371C6EAD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37560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Setup time: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525E71D-41BB-4010-AA6F-FB6DC0A4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3756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Hari - minggu</a:t>
            </a:r>
            <a:endParaRPr sz="11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27910896-0F0E-4B19-975B-263EDACE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27D2D0D9-EA8A-4FF3-B8D5-14B0A4E5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40480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Control:</a:t>
            </a:r>
            <a:endParaRPr sz="10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F1510E4-06AF-4147-ADC1-D03C0E64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4048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100%</a:t>
            </a:r>
            <a:endParaRPr sz="11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4C9A5AED-8837-4A47-915E-5DAF4EDB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720E5398-97BF-499C-A4D4-15128227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43400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Cost:</a:t>
            </a:r>
            <a:endParaRPr sz="10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05A7B92-6581-42FD-B144-1D3BEA46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4340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Murah ($)</a:t>
            </a:r>
            <a:endParaRPr sz="11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0A2316C3-69B1-43C9-970A-F845E455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4068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A9B5E90-6C63-42DC-9DD0-5D8BDDF9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4068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Pakai untuk: </a:t>
            </a: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Belajar, kontrol penuh</a:t>
            </a:r>
            <a:endParaRPr sz="11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C0CC64DB-2253-41F4-AFD5-571BFD32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B416D602-9151-4E26-A648-02F2CE22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11142F3-A05E-45EA-8DD4-980B2486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173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Managed DB</a:t>
            </a:r>
            <a:endParaRPr sz="20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52D13E03-3FC2-43ED-9E8D-A0DBADAB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783080"/>
            <a:ext cx="3429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Provider kelola infra DB</a:t>
            </a:r>
            <a:endParaRPr sz="11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329A36D6-CA9F-4B2A-90AE-01879AA2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194560"/>
            <a:ext cx="3337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RDS / Neon / Supabase DB. Anda masih bikin API, auth, dll.</a:t>
            </a:r>
            <a:endParaRPr sz="110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16ADB48C-C810-47D7-963C-DF4A28D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33756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D0862AA6-F5AD-488A-B011-DD180CB5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7560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Setup time:</a:t>
            </a:r>
            <a:endParaRPr sz="10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0519A85-D8E6-4AA3-BCFC-7B862F90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33756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Jam - hari</a:t>
            </a:r>
            <a:endParaRPr sz="11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8B52E66-7076-4AA9-9B0F-8EF4307D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84048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5E13817D-FC86-49E2-A544-57D81FE3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40480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Control:</a:t>
            </a:r>
            <a:endParaRPr sz="10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4CC2BD31-365D-4C3A-956B-408D1D7B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84048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~70%</a:t>
            </a:r>
            <a:endParaRPr sz="1100"/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A607A8A0-65E7-48C8-9B7B-9FB8F7C9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4340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1A423518-69F5-44D7-A465-90B94FFD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43400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Cost:</a:t>
            </a:r>
            <a:endParaRPr sz="10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EB07E095-2FB0-4073-B728-EF075AF1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34340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Sedang ($$)</a:t>
            </a:r>
            <a:endParaRPr sz="11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8B12BFDB-750E-4ABD-A7E6-0F8C4C8A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44068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5F93395F-50FD-46F7-9D2A-B4F60213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068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Pakai untuk: </a:t>
            </a: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Production scale</a:t>
            </a:r>
            <a:endParaRPr sz="1100"/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0A42BEAA-2C7E-4190-80BD-A5DB6200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BF05907E-42D1-4A82-BC2A-41488AAD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24D9FA2C-DFB4-48EF-8AD0-1AE4C693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173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BaaS</a:t>
            </a:r>
            <a:endParaRPr sz="20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9091283E-1C62-460B-AF73-8DCDAAE5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783080"/>
            <a:ext cx="3429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Provider kelola SEMUA backend</a:t>
            </a:r>
            <a:endParaRPr sz="1100"/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6A0C140E-7E10-476D-8588-7FED0C46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94560"/>
            <a:ext cx="3337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Database + Auth + API + Storage + Realtime - tinggal pakai</a:t>
            </a:r>
            <a:endParaRPr sz="1100"/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A09AA26B-4979-4541-9B1E-D7DAA175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33756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53D6A64C-D5B9-44A8-9833-D8DD0003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337560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Setup time:</a:t>
            </a:r>
            <a:endParaRPr sz="1000"/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E18933E4-5E04-4372-8080-4E1B32CE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333756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Menit - jam</a:t>
            </a:r>
            <a:endParaRPr sz="1100"/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F3542829-8D75-451B-8136-983560DD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84048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0C08830F-D094-4CE1-B7F4-30058F8A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840480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Control:</a:t>
            </a:r>
            <a:endParaRPr sz="1000"/>
          </a:p>
        </p:txBody>
      </p:sp>
      <p:sp>
        <p:nvSpPr>
          <p:cNvPr id="52" name="Text 48">
            <a:extLst xmlns:a="http://schemas.openxmlformats.org/drawingml/2006/main">
              <a:ext uri="{FF2B5EF4-FFF2-40B4-BE49-F238E27FC236}">
                <a16:creationId xmlns:a16="http://schemas.microsoft.com/office/drawing/2014/main" id="{578424A0-27B2-4B9C-85A7-709E78A4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384048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~40%</a:t>
            </a:r>
            <a:endParaRPr sz="1100"/>
          </a:p>
        </p:txBody>
      </p:sp>
      <p:sp>
        <p:nvSpPr>
          <p:cNvPr id="53" name="Shape 49">
            <a:extLst xmlns:a="http://schemas.openxmlformats.org/drawingml/2006/main">
              <a:ext uri="{FF2B5EF4-FFF2-40B4-BE49-F238E27FC236}">
                <a16:creationId xmlns:a16="http://schemas.microsoft.com/office/drawing/2014/main" id="{6B6EF9B7-52C6-4836-9014-7D3DC1EE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4" name="Text 50">
            <a:extLst xmlns:a="http://schemas.openxmlformats.org/drawingml/2006/main">
              <a:ext uri="{FF2B5EF4-FFF2-40B4-BE49-F238E27FC236}">
                <a16:creationId xmlns:a16="http://schemas.microsoft.com/office/drawing/2014/main" id="{4D889F27-A26D-438C-9A22-E4793E02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343400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Cost:</a:t>
            </a:r>
            <a:endParaRPr sz="1000"/>
          </a:p>
        </p:txBody>
      </p:sp>
      <p:sp>
        <p:nvSpPr>
          <p:cNvPr id="55" name="Text 51">
            <a:extLst xmlns:a="http://schemas.openxmlformats.org/drawingml/2006/main">
              <a:ext uri="{FF2B5EF4-FFF2-40B4-BE49-F238E27FC236}">
                <a16:creationId xmlns:a16="http://schemas.microsoft.com/office/drawing/2014/main" id="{9C64C85C-46C3-4A2E-B54B-6EAFA92D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34340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Free tier ($-$$$)</a:t>
            </a:r>
            <a:endParaRPr sz="1100"/>
          </a:p>
        </p:txBody>
      </p:sp>
      <p:sp>
        <p:nvSpPr>
          <p:cNvPr id="56" name="Shape 52">
            <a:extLst xmlns:a="http://schemas.openxmlformats.org/drawingml/2006/main">
              <a:ext uri="{FF2B5EF4-FFF2-40B4-BE49-F238E27FC236}">
                <a16:creationId xmlns:a16="http://schemas.microsoft.com/office/drawing/2014/main" id="{9C8C9723-B1A6-4B69-9CA0-42F88CF3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44068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57" name="Text 53">
            <a:extLst xmlns:a="http://schemas.openxmlformats.org/drawingml/2006/main">
              <a:ext uri="{FF2B5EF4-FFF2-40B4-BE49-F238E27FC236}">
                <a16:creationId xmlns:a16="http://schemas.microsoft.com/office/drawing/2014/main" id="{EC191BAF-D08F-42E4-AC6B-7792DD41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44068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Pakai untuk: </a:t>
            </a: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MVP, demo, indie</a:t>
            </a:r>
            <a:endParaRPr sz="1100"/>
          </a:p>
        </p:txBody>
      </p:sp>
      <p:sp>
        <p:nvSpPr>
          <p:cNvPr id="58" name="Text 54">
            <a:extLst xmlns:a="http://schemas.openxmlformats.org/drawingml/2006/main">
              <a:ext uri="{FF2B5EF4-FFF2-40B4-BE49-F238E27FC236}">
                <a16:creationId xmlns:a16="http://schemas.microsoft.com/office/drawing/2014/main" id="{82FE473A-5C3A-4D96-A012-4D671250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Untuk kuliah: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Self-hosted (Docker Compose - pertemuan 6) + BaaS (Supabase - hari ini). Lihat kapan masing-masing tepat.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834012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73CEC3E-3BF1-4CF3-95AB-C50D2566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E0A745-A531-4DD6-9822-EED9C230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FFF5A24-1CE4-4C9D-BC57-A230B89A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8f3e627a847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6d61c82324d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FE1C510-4224-436E-8132-DF1B5034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926141B-17F5-42B5-8E01-A15C8E1C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Kenapa BaaS Booming?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90C2D3D-5C22-48D5-A223-7112BEA2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Time-to-market argument - dari ide ke production dalam hitungan jam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4294CAD-03B7-4DDA-AC9C-D1B7901F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BBA79BCA-9D62-43D5-BB02-7FE85395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27432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4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90%</a:t>
            </a:r>
            <a:endParaRPr sz="64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D03BAC1-B559-4A29-85EC-118E147E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00200"/>
            <a:ext cx="8229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fitur backend yang dipakai tiap web app</a:t>
            </a:r>
            <a:endParaRPr sz="1400"/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(database + auth + API + storage + realtime)</a:t>
            </a:r>
            <a:endParaRPr sz="14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punya implementasi yang sangat mirip antar project.</a:t>
            </a:r>
            <a:endParaRPr sz="1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6EDBB7FF-C5A5-4B7D-9864-4C0E1912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3 Alasan BaaS Dipilih Tim Modern</a:t>
            </a:r>
            <a:endParaRPr sz="14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F03B3CE-FDA3-4868-A4CD-6CD26106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3657600" cy="1874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3434BB03-85B0-4F25-9F53-3A1AC511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36576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5e68de66949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333756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9DC78CFB-65EC-4A8D-B914-323B8690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46120"/>
            <a:ext cx="2926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Speed to Market</a:t>
            </a:r>
            <a:endParaRPr sz="14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DE3E1F6E-F884-40DE-B02C-31401A8D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32918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Skip 2-3 minggu setup backend boilerplate. Fokus ke fitur unik produk Anda.</a:t>
            </a:r>
            <a:endParaRPr sz="11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046F5C7C-8AC5-4081-A6B6-1D642C9C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246120"/>
            <a:ext cx="3657600" cy="1874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1D215032-6E3D-41B7-8A39-8CC34010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246120"/>
            <a:ext cx="36576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5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2e9c1324148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80560" y="333756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7C913FB5-3EB6-4E38-8E7B-00885ED2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246120"/>
            <a:ext cx="2926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Lower Engineering Cost</a:t>
            </a:r>
            <a:endParaRPr sz="14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629E5980-5617-447A-AB0E-8609D7DE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931920"/>
            <a:ext cx="32918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Tidak perlu hire DBA + DevOps. Tim 2 orang bisa ship product yang biasanya butuh 5-10.</a:t>
            </a:r>
            <a:endParaRPr sz="11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5830DDC5-7B01-4017-B344-2F3BD4C1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246120"/>
            <a:ext cx="3657600" cy="1874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EA85CED8-F062-4EB0-AD4A-5B88DD52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246120"/>
            <a:ext cx="36576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pic>
        <p:nvPicPr>
          <p:cNvPr id="6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2c32be3994e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1040" y="333756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5327F5DB-2D22-444C-BFA4-81619717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246120"/>
            <a:ext cx="2926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Battle-Tested Defaults</a:t>
            </a:r>
            <a:endParaRPr sz="14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20143E4B-475D-420B-9236-D121725F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931920"/>
            <a:ext cx="32918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Auth, encryption, backup, monitoring sudah handle. Tidak salah implementasi.</a:t>
            </a:r>
            <a:endParaRPr sz="110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A72E4A36-D848-4DF3-89C3-1915D271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3520"/>
            <a:ext cx="11247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6E98873F-F701-48CF-951F-EFD1EF91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9496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Tradeoff yang harus disadari: 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vendor lock-in (data + auth integration sulit migrasi), pricing scale up bisa mahal, kustomisasi advanced kadang tidak bisa.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Rule of thumb: pakai BaaS untuk MVP. Migrasi self-hosted/managed kalau scale jelas + kebutuhan custom besar.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9908093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40A790-5E15-43F3-9FF7-68609C5A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0511217-021C-4623-8984-FF162D43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2D0C9C0-406B-421A-8168-FB86BD52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122E90D-D11F-4C33-8EFF-E8923639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78EB033-E007-4D27-8BD3-A79C692B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BE2322D-1738-4A1A-8D06-3BA5BAC7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EAB355C-A32E-4A38-8369-7A1FA307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f0a76e64047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337159bcc49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4D8AA27-E0F4-49E5-85DA-F0FEE07D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02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BE6B258-CB45-446E-A20B-15DB66CB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Supabase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Introduction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64072675-C3DC-4E7B-BC92-A5DF4B69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B91DCCD-188F-4354-AD5E-325E0857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Open-source Firebase alternative built on Postgres.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3901900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539A6D-99DA-4500-AD0D-27230728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52449C8-3048-48C9-AF99-40F3D4CC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ED9978C-AF11-4C92-97D2-4D74B12B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a6111849b47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1d01fd40843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5E0009A-8EF2-40A7-9066-21814EA2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A90C4B9-A54B-4926-8A15-614DE76A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Apa itu Supabase?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29F6216-CE02-49FC-931E-DAAFC8A6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Open-source Firebase alternative - dibangun di atas Postgres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7CC63D5-2C5D-4106-AD11-5BD6EAD9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5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686f8871840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69164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95A19241-3059-4306-A75F-CDA21F9B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554480"/>
            <a:ext cx="9601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Supabase = BaaS open-source dengan PostgreSQL sebagai fondasi.</a:t>
            </a:r>
            <a:endParaRPr sz="16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8BF9FA9A-28B6-4303-9959-637CF76F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65960"/>
            <a:ext cx="9601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Database + Auth + Auto API + Realtime + Storage + Edge Functions - semua jadi 1 platform. Pakai SQL standar, bukan API proprietary.</a:t>
            </a:r>
            <a:endParaRPr sz="11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29DDF1D4-C6E9-4DB3-9338-073932A5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Supabase vs Firebase - Perbedaan Filosofis</a:t>
            </a:r>
            <a:endParaRPr sz="14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8DEF7CC8-39E8-423A-B687-44812F16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5577840" cy="3063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6203EEEC-5CE7-4C91-81D0-A0AA04FF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55778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8E"/>
          </a:solidFill>
          <a:ln xmlns:a="http://schemas.openxmlformats.org/drawingml/2006/main" w="12700">
            <a:solidFill>
              <a:srgbClr val="3ECF8E"/>
            </a:solidFill>
            <a:prstDash val="solid"/>
          </a:ln>
        </p:spPr>
      </p:sp>
      <p:pic>
        <p:nvPicPr>
          <p:cNvPr id="6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686f8871840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32918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A458B773-DAC0-4CC5-B393-5CBBE12B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4846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Supabase</a:t>
            </a:r>
            <a:endParaRPr sz="16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F0022C62-3446-4547-A904-E41D9600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Database:</a:t>
            </a:r>
            <a:endParaRPr sz="11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544CE41C-BA25-49B1-AD4A-8D223387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3840480"/>
            <a:ext cx="3749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PostgreSQL (SQL standard)</a:t>
            </a:r>
            <a:endParaRPr sz="110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20D4F7B0-1A77-4677-98B9-FABD9A0A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9768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Query:</a:t>
            </a:r>
            <a:endParaRPr sz="11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F07BA43E-4671-465A-89A4-D23AA590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4297680"/>
            <a:ext cx="3749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SQL + auto REST API (PostgREST)</a:t>
            </a:r>
            <a:endParaRPr sz="11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35FE1AB2-C457-42E1-8337-D2925059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Type:</a:t>
            </a:r>
            <a:endParaRPr sz="11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977DE501-AB10-40BC-AA83-C1835AEE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4754880"/>
            <a:ext cx="3749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Relasional dengan ACID</a:t>
            </a:r>
            <a:endParaRPr sz="11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573BEFB1-24BE-4831-87E2-7F171E8E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Lock-in:</a:t>
            </a:r>
            <a:endParaRPr sz="110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DA1CA3C5-ABC4-493B-9C53-8FFC25D0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5212080"/>
            <a:ext cx="3749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Rendah - data export = SQL dump</a:t>
            </a:r>
            <a:endParaRPr sz="11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BC91D759-B9ED-4C77-A995-E3EFEF56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6928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Open Source:</a:t>
            </a:r>
            <a:endParaRPr sz="1100"/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DCD2E1A5-6FD9-4AE9-9686-00328725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5669280"/>
            <a:ext cx="3749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Ya (Apache 2.0), bisa self-host</a:t>
            </a:r>
            <a:endParaRPr sz="1100"/>
          </a:p>
        </p:txBody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E2890BE1-324F-4753-B75C-927BC8EC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200400"/>
            <a:ext cx="5486400" cy="3063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DC417D8C-4AFC-411C-9B0B-0A3454AF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200400"/>
            <a:ext cx="54864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28"/>
          </a:solidFill>
          <a:ln xmlns:a="http://schemas.openxmlformats.org/drawingml/2006/main" w="12700">
            <a:solidFill>
              <a:srgbClr val="FFCA28"/>
            </a:solidFill>
            <a:prstDash val="solid"/>
          </a:ln>
        </p:spPr>
      </p:sp>
      <p:pic>
        <p:nvPicPr>
          <p:cNvPr id="7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19dc72d2343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2918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CEADA87F-3E90-4990-B99C-5BE8A719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200400"/>
            <a:ext cx="4663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Firebase</a:t>
            </a:r>
            <a:endParaRPr sz="1600"/>
          </a:p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D479F47B-E00A-40B5-B322-B7A2FB6B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048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Database:</a:t>
            </a:r>
            <a:endParaRPr sz="1100"/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68F43458-8464-44BD-B558-6E2DE3DE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84048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Firestore (NoSQL, document)</a:t>
            </a:r>
            <a:endParaRPr sz="1100"/>
          </a:p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6C03C1F5-9D36-48EA-AF8D-3103ACB5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768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Query:</a:t>
            </a:r>
            <a:endParaRPr sz="1100"/>
          </a:p>
        </p:txBody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D8F9C38C-23E3-4675-9981-44E43924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29768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Proprietary SDK API</a:t>
            </a:r>
            <a:endParaRPr sz="1100"/>
          </a:p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EA1FF8-26F5-4F4E-8CD1-5C33CBD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5488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Type:</a:t>
            </a:r>
            <a:endParaRPr sz="1100"/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4A79838C-9B25-4D50-A44D-51D2031C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75488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Document store, eventual consistency</a:t>
            </a:r>
            <a:endParaRPr sz="1100"/>
          </a:p>
        </p:txBody>
      </p:sp>
      <p:sp>
        <p:nvSpPr>
          <p:cNvPr id="39" name="Text 32">
            <a:extLst xmlns:a="http://schemas.openxmlformats.org/drawingml/2006/main">
              <a:ext uri="{FF2B5EF4-FFF2-40B4-BE49-F238E27FC236}">
                <a16:creationId xmlns:a16="http://schemas.microsoft.com/office/drawing/2014/main" id="{55BD2126-B771-48EB-B593-19018A15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208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Lock-in:</a:t>
            </a:r>
            <a:endParaRPr sz="1100"/>
          </a:p>
        </p:txBody>
      </p:sp>
      <p:sp>
        <p:nvSpPr>
          <p:cNvPr id="40" name="Text 33">
            <a:extLst xmlns:a="http://schemas.openxmlformats.org/drawingml/2006/main">
              <a:ext uri="{FF2B5EF4-FFF2-40B4-BE49-F238E27FC236}">
                <a16:creationId xmlns:a16="http://schemas.microsoft.com/office/drawing/2014/main" id="{39466465-E55D-41E8-B5C7-A770ECEE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521208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Tinggi - data + query specific</a:t>
            </a:r>
            <a:endParaRPr sz="1100"/>
          </a:p>
        </p:txBody>
      </p:sp>
      <p:sp>
        <p:nvSpPr>
          <p:cNvPr id="41" name="Text 34">
            <a:extLst xmlns:a="http://schemas.openxmlformats.org/drawingml/2006/main">
              <a:ext uri="{FF2B5EF4-FFF2-40B4-BE49-F238E27FC236}">
                <a16:creationId xmlns:a16="http://schemas.microsoft.com/office/drawing/2014/main" id="{A430BC5E-F13B-40A9-A3CF-0A7916CD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6928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Open Source:</a:t>
            </a:r>
            <a:endParaRPr sz="1100"/>
          </a:p>
        </p:txBody>
      </p:sp>
      <p:sp>
        <p:nvSpPr>
          <p:cNvPr id="42" name="Text 35">
            <a:extLst xmlns:a="http://schemas.openxmlformats.org/drawingml/2006/main">
              <a:ext uri="{FF2B5EF4-FFF2-40B4-BE49-F238E27FC236}">
                <a16:creationId xmlns:a16="http://schemas.microsoft.com/office/drawing/2014/main" id="{5EA4855B-C91B-439C-8C00-D7665C3F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566928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Tidak - Google-owned</a:t>
            </a:r>
            <a:endParaRPr sz="1100"/>
          </a:p>
        </p:txBody>
      </p:sp>
      <p:sp>
        <p:nvSpPr>
          <p:cNvPr id="43" name="Text 36">
            <a:extLst xmlns:a="http://schemas.openxmlformats.org/drawingml/2006/main">
              <a:ext uri="{FF2B5EF4-FFF2-40B4-BE49-F238E27FC236}">
                <a16:creationId xmlns:a16="http://schemas.microsoft.com/office/drawing/2014/main" id="{2D9C80B7-CCDF-454C-AF31-5DA673AC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11247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Pilih Supabase kalau: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butuh relational data, kompleks query (JOIN), atau khawatir vendor lock-in.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312473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DD61BE7-83BF-4151-81DE-9A09FEB7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022CFF-9AAE-4D1C-8ED3-9040494A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EBA0347-92F1-4493-A86D-C14C34DF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28971a0c942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ba747113f4b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92ED5D7-00FC-4FF6-84FF-0F7B0079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2328734-1B62-457B-BA9E-C38D8863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Supabase Architecture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F9252ED-32D2-47C5-90EF-258B8CBA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Postgres di tengah, 5 services di sekelilingnya - semua open-source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79BC781-BC8A-4178-B10D-C2C289FD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E92D9FBE-30A0-480D-AAC6-8A436943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43200"/>
            <a:ext cx="2103120" cy="2103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E1"/>
          </a:solidFill>
          <a:ln xmlns:a="http://schemas.openxmlformats.org/drawingml/2006/main" w="12700">
            <a:solidFill>
              <a:srgbClr val="4169E1"/>
            </a:solidFill>
            <a:prstDash val="solid"/>
          </a:ln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cb555aa0945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0" y="315468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F7E18D66-20B4-4142-8615-C2D3D0C9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14800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PostgreSQL</a:t>
            </a:r>
            <a:endParaRPr sz="13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0B37EE2E-24AB-4839-A038-6D8870F3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3484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(core)</a:t>
            </a:r>
            <a:endParaRPr sz="10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E64B5AD6-73E1-4F33-B8B8-D787EB9B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10312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cea5e7233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1560" y="196596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C3DD5653-11D7-49F9-AC1E-63DFD357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920240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PostgREST</a:t>
            </a:r>
            <a:endParaRPr sz="1200"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6F80C01A-1EC2-47AB-BBCB-A71A0DA2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1828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 REST API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dari schema</a:t>
            </a:r>
            <a:endParaRPr sz="950"/>
          </a:p>
        </p:txBody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5084F35A-269F-49C0-AFEB-8CDD3492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3360"/>
            <a:ext cx="210312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pic>
        <p:nvPicPr>
          <p:cNvPr id="6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1777121274a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1560" y="41605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91B3C21E-B77C-487A-8DD1-19A356C9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114800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GoTrue</a:t>
            </a:r>
            <a:endParaRPr sz="1200"/>
          </a:p>
        </p:txBody>
      </p:sp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742E4256-E787-4D34-BA28-46A0F05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617720"/>
            <a:ext cx="1828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Authentication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(email, OAuth)</a:t>
            </a:r>
            <a:endParaRPr sz="950"/>
          </a:p>
        </p:txBody>
      </p:sp>
      <p:sp>
        <p:nvSpPr>
          <p:cNvPr id="23" name="Shape 16">
            <a:extLst xmlns:a="http://schemas.openxmlformats.org/drawingml/2006/main">
              <a:ext uri="{FF2B5EF4-FFF2-40B4-BE49-F238E27FC236}">
                <a16:creationId xmlns:a16="http://schemas.microsoft.com/office/drawing/2014/main" id="{361752E0-7E9E-4963-9783-6441783D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28800"/>
            <a:ext cx="210312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7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6bf35f445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3960" y="196596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A6444A9C-99DF-4013-9DE8-772C1378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920240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Realtime</a:t>
            </a:r>
            <a:endParaRPr sz="1200"/>
          </a:p>
        </p:txBody>
      </p:sp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F5E870B4-C600-4C1B-9518-57C4EFE8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423160"/>
            <a:ext cx="1828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WebSocket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DB changes</a:t>
            </a:r>
            <a:endParaRPr sz="950"/>
          </a:p>
        </p:txBody>
      </p:sp>
      <p:sp>
        <p:nvSpPr>
          <p:cNvPr id="27" name="Shape 19">
            <a:extLst xmlns:a="http://schemas.openxmlformats.org/drawingml/2006/main">
              <a:ext uri="{FF2B5EF4-FFF2-40B4-BE49-F238E27FC236}">
                <a16:creationId xmlns:a16="http://schemas.microsoft.com/office/drawing/2014/main" id="{5553E3DA-933E-44F7-97E4-E576CF71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23360"/>
            <a:ext cx="210312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pic>
        <p:nvPicPr>
          <p:cNvPr id="75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858def7164c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3960" y="41605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9" name="Text 20">
            <a:extLst xmlns:a="http://schemas.openxmlformats.org/drawingml/2006/main">
              <a:ext uri="{FF2B5EF4-FFF2-40B4-BE49-F238E27FC236}">
                <a16:creationId xmlns:a16="http://schemas.microsoft.com/office/drawing/2014/main" id="{D8639798-B4EF-4E81-BD06-3A674B4A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114800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Storage</a:t>
            </a:r>
            <a:endParaRPr sz="1200"/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09190A72-A206-4A41-9622-4103E56B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4617720"/>
            <a:ext cx="1828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File uploads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(S3-like)</a:t>
            </a:r>
            <a:endParaRPr sz="950"/>
          </a:p>
        </p:txBody>
      </p:sp>
      <p:sp>
        <p:nvSpPr>
          <p:cNvPr id="31" name="Shape 22">
            <a:extLst xmlns:a="http://schemas.openxmlformats.org/drawingml/2006/main">
              <a:ext uri="{FF2B5EF4-FFF2-40B4-BE49-F238E27FC236}">
                <a16:creationId xmlns:a16="http://schemas.microsoft.com/office/drawing/2014/main" id="{6516A5C9-123D-4D56-89D9-28441C4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63040"/>
            <a:ext cx="210312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pic>
        <p:nvPicPr>
          <p:cNvPr id="79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6e739b8a54f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6360" y="16002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33" name="Text 23">
            <a:extLst xmlns:a="http://schemas.openxmlformats.org/drawingml/2006/main">
              <a:ext uri="{FF2B5EF4-FFF2-40B4-BE49-F238E27FC236}">
                <a16:creationId xmlns:a16="http://schemas.microsoft.com/office/drawing/2014/main" id="{3107306A-D48A-4FFF-A8DE-AAA56AB7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554480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Edge Functions</a:t>
            </a:r>
            <a:endParaRPr sz="1200"/>
          </a:p>
        </p:txBody>
      </p:sp>
      <p:sp>
        <p:nvSpPr>
          <p:cNvPr id="34" name="Text 24">
            <a:extLst xmlns:a="http://schemas.openxmlformats.org/drawingml/2006/main">
              <a:ext uri="{FF2B5EF4-FFF2-40B4-BE49-F238E27FC236}">
                <a16:creationId xmlns:a16="http://schemas.microsoft.com/office/drawing/2014/main" id="{10B63023-7851-42DE-AD39-05524D49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057400"/>
            <a:ext cx="1828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Serverless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(Deno runtime)</a:t>
            </a:r>
            <a:endParaRPr sz="950"/>
          </a:p>
        </p:txBody>
      </p:sp>
      <p:sp>
        <p:nvSpPr>
          <p:cNvPr id="35" name="Shape 25">
            <a:extLst xmlns:a="http://schemas.openxmlformats.org/drawingml/2006/main">
              <a:ext uri="{FF2B5EF4-FFF2-40B4-BE49-F238E27FC236}">
                <a16:creationId xmlns:a16="http://schemas.microsoft.com/office/drawing/2014/main" id="{E2BB62C1-220C-434B-B6B6-B5A19AD5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468880"/>
            <a:ext cx="306324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4748B"/>
            </a:solidFill>
            <a:prstDash val="dash"/>
          </a:ln>
        </p:spPr>
      </p:sp>
      <p:sp>
        <p:nvSpPr>
          <p:cNvPr id="36" name="Shape 26">
            <a:extLst xmlns:a="http://schemas.openxmlformats.org/drawingml/2006/main">
              <a:ext uri="{FF2B5EF4-FFF2-40B4-BE49-F238E27FC236}">
                <a16:creationId xmlns:a16="http://schemas.microsoft.com/office/drawing/2014/main" id="{DFEBC20E-0899-45BA-8E36-E56F5B41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65960" y="4114800"/>
            <a:ext cx="3063240" cy="548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4748B"/>
            </a:solidFill>
            <a:prstDash val="dash"/>
          </a:ln>
        </p:spPr>
      </p:sp>
      <p:sp>
        <p:nvSpPr>
          <p:cNvPr id="37" name="Shape 27">
            <a:extLst xmlns:a="http://schemas.openxmlformats.org/drawingml/2006/main">
              <a:ext uri="{FF2B5EF4-FFF2-40B4-BE49-F238E27FC236}">
                <a16:creationId xmlns:a16="http://schemas.microsoft.com/office/drawing/2014/main" id="{DC15ED36-E337-4458-B4DA-36A027D6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132320" y="2468880"/>
            <a:ext cx="155448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4748B"/>
            </a:solidFill>
            <a:prstDash val="dash"/>
          </a:ln>
        </p:spPr>
      </p:sp>
      <p:sp>
        <p:nvSpPr>
          <p:cNvPr id="38" name="Shape 28">
            <a:extLst xmlns:a="http://schemas.openxmlformats.org/drawingml/2006/main">
              <a:ext uri="{FF2B5EF4-FFF2-40B4-BE49-F238E27FC236}">
                <a16:creationId xmlns:a16="http://schemas.microsoft.com/office/drawing/2014/main" id="{CE2BDD91-558C-45D3-8CE2-6AC4E765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132320" y="4114800"/>
            <a:ext cx="1554480" cy="548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4748B"/>
            </a:solidFill>
            <a:prstDash val="dash"/>
          </a:ln>
        </p:spPr>
      </p:sp>
      <p:sp>
        <p:nvSpPr>
          <p:cNvPr id="39" name="Shape 29">
            <a:extLst xmlns:a="http://schemas.openxmlformats.org/drawingml/2006/main">
              <a:ext uri="{FF2B5EF4-FFF2-40B4-BE49-F238E27FC236}">
                <a16:creationId xmlns:a16="http://schemas.microsoft.com/office/drawing/2014/main" id="{AE3C6874-FC5E-4E8B-8B20-FFC72B39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69280"/>
            <a:ext cx="112471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0" name="Text 30">
            <a:extLst xmlns:a="http://schemas.openxmlformats.org/drawingml/2006/main">
              <a:ext uri="{FF2B5EF4-FFF2-40B4-BE49-F238E27FC236}">
                <a16:creationId xmlns:a16="http://schemas.microsoft.com/office/drawing/2014/main" id="{BF96B062-7842-4075-9CD6-3368511C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6928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Insight: </a:t>
            </a:r>
            <a:r>
              <a:rPr sz="11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schema PostgreSQL = single source of truth. Tambah table -&gt; langsung dapat REST endpoint + realtime + auth integration.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1761964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16E907A-F4F5-4F4A-9BFD-602004B8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65620E1-5603-4898-9697-51732395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F627A6B-94CE-4425-857B-E86597BF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7a6700cd748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923a4c60043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0AE56E1-1693-4384-B1A8-D5336AFA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B2DDF4C-C0A3-45A8-B8C0-3F87C35E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Setup Project Supabase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3886100-0AAD-4DD4-B962-94E9924F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Dari signup ke connection string - 3 menit kerja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05C219E-4FC6-45E5-BA01-B8E851EC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BEE2441-4CF3-4702-842A-C1D7DECC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18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7E2A634-5A07-4510-847D-80EE8AE4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1848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200"/>
          </a:p>
        </p:txBody>
      </p:sp>
      <p:pic>
        <p:nvPicPr>
          <p:cNvPr id="5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61c53489c48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169164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45B70EFE-8205-464E-94C3-3C2B5AE1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50876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Signup di supabase.com</a:t>
            </a:r>
            <a:endParaRPr sz="13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EB63A492-FF56-4E66-AA56-DDADF2DF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874520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GitHub login (recommended) atau email. Free tier langsung aktif - no credit card.</a:t>
            </a:r>
            <a:endParaRPr sz="105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D8792E1A-C043-4654-95B5-BBEB67FB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64008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A73D99DE-8C6C-46B1-BFC1-0F9B50F7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C3EBCD63-76DD-4D15-B271-EAD35809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200"/>
          </a:p>
        </p:txBody>
      </p:sp>
      <p:pic>
        <p:nvPicPr>
          <p:cNvPr id="6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a5ac3c3b846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27432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DC620CB4-3BC8-473A-B896-18D697DC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6032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Create New Project</a:t>
            </a:r>
            <a:endParaRPr sz="130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B063C8D6-E13A-40FB-8C8B-B5738577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926080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Pilih region (Singapore untuk Indonesia, latency ~30ms), nama project, password DB.</a:t>
            </a:r>
            <a:endParaRPr sz="1050"/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8C6865C0-9285-46AF-BB05-0F02DAE7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0440"/>
            <a:ext cx="64008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BE001B20-7FE9-4E35-86A6-0F690F6F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2160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BB101CC9-63AC-4F40-BB58-DCD6324F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216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200"/>
          </a:p>
        </p:txBody>
      </p:sp>
      <p:pic>
        <p:nvPicPr>
          <p:cNvPr id="7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f5913422748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379476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8D0422A7-5569-4175-9DB8-3A836131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61188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Tunggu Provisioning</a:t>
            </a:r>
            <a:endParaRPr sz="1300"/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9793F8A6-619D-4DA5-BBDF-A55D6759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977640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~2 menit. Behind scene: Supabase spin up Postgres + 5 services + assign domain.</a:t>
            </a:r>
            <a:endParaRPr sz="1050"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D99F67F9-16E9-4A4D-830E-7847CDD9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64008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37048B9C-480F-4A81-8936-08388CE9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731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CA8F0FD7-08B9-469F-85CF-B5D62B15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7316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200"/>
          </a:p>
        </p:txBody>
      </p:sp>
      <p:pic>
        <p:nvPicPr>
          <p:cNvPr id="7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495014e3f4f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48463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1BF4F429-322D-4242-A367-5258A594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66344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Get Credentials</a:t>
            </a:r>
            <a:endParaRPr sz="130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375A56B3-2FA8-4432-A808-9765609D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5029200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Settings -&gt; API Keys: gunakan publishable key; rahasiakan secret key.</a:t>
            </a:r>
            <a:endParaRPr sz="105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D3C6A04A-EB47-42FA-8C90-3D4C22EB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417320"/>
            <a:ext cx="466344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99573E9F-8444-478B-BB5B-DECB95E8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417320"/>
            <a:ext cx="46634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6" name="Shape 28">
            <a:extLst xmlns:a="http://schemas.openxmlformats.org/drawingml/2006/main">
              <a:ext uri="{FF2B5EF4-FFF2-40B4-BE49-F238E27FC236}">
                <a16:creationId xmlns:a16="http://schemas.microsoft.com/office/drawing/2014/main" id="{86B96159-73D0-493B-B7BA-E3B6E012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90418605-B93C-4961-A9E9-EAE6DA65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BBD3A479-52E3-4600-8113-09A5B858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5C84EC8-E11C-4E04-A4D7-BEFF270C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41732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Settings -&gt; API</a:t>
            </a:r>
            <a:endParaRPr sz="900"/>
          </a:p>
        </p:txBody>
      </p:sp>
      <p:sp>
        <p:nvSpPr>
          <p:cNvPr id="40" name="Text 32">
            <a:extLst xmlns:a="http://schemas.openxmlformats.org/drawingml/2006/main">
              <a:ext uri="{FF2B5EF4-FFF2-40B4-BE49-F238E27FC236}">
                <a16:creationId xmlns:a16="http://schemas.microsoft.com/office/drawing/2014/main" id="{2951F546-6B8D-4610-A9A1-AB24D827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783080"/>
            <a:ext cx="4389120" cy="411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Project URL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https://abcdefghij.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supabase.co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anon (public) key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Boleh expose di frontend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Subject to RLS!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eyJhbGciOiJIUzI1NiIs...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service_role key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# BYPASS RLS - DANGEROUS!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# Server-side only, 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# never expose ke client.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eyJhbGciOiJIUzI1NiIs...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Connection string PG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postgresql://postgres: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pwd@host:5432/postgres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944188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121A3F2-9A15-490E-8970-6599E00A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65243C1-8A3F-4132-BB6F-9A0862DA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14DC493-4FA8-45B0-91E3-FA3760D1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F6F07A9-A22A-4BF5-8E87-94282617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5CAD128-CD38-4FD3-B059-9FEE6AE4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D3A3DD4-DC70-431A-91F7-31F4E976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D309132-8AD3-40A4-8247-147837CE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5b60cd9b44d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91c23347884e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C3DDBFF-92E0-46AD-87C3-1AD1EA79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03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445E22E2-B44A-4DB0-A8B4-61C82FAD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Database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SQL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97DC96F-40E2-4E41-A768-E71809CA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E3A702F-167B-4BC1-8055-4CB9160E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Schema design lewat dashboard atau SQL Editor.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7861062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86AC334-3984-418A-BD10-FA032FF0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4B2C253-6219-4E8B-8A9A-7EE58639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70D6B8B-2910-4FFF-B130-941AF1A0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46073e3bc49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92487d4b342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B90DAE0-CFA5-4E2B-8712-544DE510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8A6788F-BA6F-4461-B7F7-AF1533B9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Supabase Dashboard - Yang Akan Sering Anda Pakai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691B853-ACA1-458E-871E-C5B3E6C9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Web UI untuk semua aspek project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0B4CED7-1174-49D4-9598-0F8A9AD5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A7075CF-6943-4F3C-BD3A-1877EED6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C469E52-F921-4C17-884F-39797AB3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Table Editor</a:t>
            </a:r>
            <a:endParaRPr sz="1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246062B-4F4C-494A-B18E-8E737444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3375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Buat/edit table secara visual. UI mirip Airtable - tidak perlu SQL.</a:t>
            </a:r>
            <a:endParaRPr sz="11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1F25B49C-8A23-49F3-B78A-843156CA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3337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BCA77E8-D480-472B-BA21-29F94AEE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72968"/>
            <a:ext cx="3337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EB857A2-754A-48F9-8150-64042777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64992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Schema cepat</a:t>
            </a:r>
            <a:endParaRPr sz="11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FB49A7DA-6510-4B36-9BA3-6AF17124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1E9388B8-268A-4DF5-9EA1-7883807B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644B325D-A9A8-4FDB-9D04-F2D660A9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SQL Editor</a:t>
            </a:r>
            <a:endParaRPr sz="14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49C9D32-782A-4771-B5DE-BC5E5FA3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65960"/>
            <a:ext cx="33375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Tulis SQL langsung - SELECT, CREATE TABLE, ALTER, custom function.</a:t>
            </a:r>
            <a:endParaRPr sz="11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4134B8C1-5390-44F8-A300-14D131ED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108960"/>
            <a:ext cx="3337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AD3060E8-B44B-42F1-8C01-44CC94E8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172968"/>
            <a:ext cx="3337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3C893563-9481-4DB1-9CE9-AEF64C8C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364992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Power user</a:t>
            </a:r>
            <a:endParaRPr sz="11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05D9D4E2-6D5D-4C51-9920-06ECD859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7804BA79-1655-4539-A93B-0AD0052D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F8F7AB27-A19D-440F-9F3D-4B9AFAFE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Database</a:t>
            </a:r>
            <a:endParaRPr sz="14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963C41F-8AE7-4972-A66B-59BDAFF9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65960"/>
            <a:ext cx="33375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Lihat schema, indexes, triggers, functions, replication, backup.</a:t>
            </a:r>
            <a:endParaRPr sz="11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2CA1436F-2E3C-4A9A-84A4-CEBD295D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108960"/>
            <a:ext cx="3337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7BF1BBA-0B66-44E5-8B54-AE81DF32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172968"/>
            <a:ext cx="3337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56B803FE-9398-45DF-A3FA-BB56D1B2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364992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DBA tasks</a:t>
            </a:r>
            <a:endParaRPr sz="110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D21AB11F-2333-45AB-A9AE-271DB7BB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B8B82CCE-18C4-4626-BD5E-70B1B8B3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73C0B28C-C547-4EEF-BBB3-6B181246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Authentication</a:t>
            </a:r>
            <a:endParaRPr sz="14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8ADBBF67-20AA-4081-9385-2CB844F4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33375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Setup providers (email, Google, GitHub), template email, user list.</a:t>
            </a:r>
            <a:endParaRPr sz="110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D08F3D07-0B11-42ED-963E-224AA356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0"/>
            <a:ext cx="3337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E53EEE2E-CDFD-4070-918E-9E06F485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50408"/>
            <a:ext cx="3337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8D21F9B8-8CB1-4B3E-964D-70D31C16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42432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User mgmt</a:t>
            </a:r>
            <a:endParaRPr sz="110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DF740E3C-4660-401F-B7FB-08ADA0BA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7DC286B7-BB17-47D3-B3D0-C987EDC9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4F615337-D2A6-4E93-B4D9-54CA6F93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Storage</a:t>
            </a:r>
            <a:endParaRPr sz="14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AC2A652F-349A-4CFD-B68E-93E3326F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43400"/>
            <a:ext cx="33375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Bucket untuk file. Policy mirip RLS. CDN-backed.</a:t>
            </a:r>
            <a:endParaRPr sz="1100"/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AA391580-09E1-4027-A853-C4147347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486400"/>
            <a:ext cx="3337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3846014D-1B62-43F6-9D4A-650550F6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550408"/>
            <a:ext cx="3337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F62C9D88-5017-482D-A493-F1367243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742432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Upload file</a:t>
            </a:r>
            <a:endParaRPr sz="1100"/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C9347D9E-E2CA-4092-BBEF-F0427A9E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6E2EC4F1-EB42-4ED9-AE5B-B73F2E44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21EEC22-7F23-47CD-86E0-9DC244E6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Edge Functions</a:t>
            </a:r>
            <a:endParaRPr sz="1400"/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842F99A3-DC1A-45E1-8A3D-7F3779FF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33375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Deploy Deno function. Logic custom yang tidak bisa di-handle SQL.</a:t>
            </a:r>
            <a:endParaRPr sz="1100"/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8D0A7A87-6AAC-4758-8ABB-56A0FE21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486400"/>
            <a:ext cx="3337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D70E2543-53B5-47FE-8334-812A023D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550408"/>
            <a:ext cx="3337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DE13A3F0-DAF5-488C-BEF8-54AE42C6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742432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Custom logic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645422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FEF136F-3EC8-4235-ACDA-0F5A503D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83B5E91-D6FC-44C7-8128-AB5A173D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B5D620D-A570-4FB1-ADE1-0B91E95B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3b7306d2943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d15a324f846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517A385-D432-4A05-89EF-06CD2056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16E60EA-7001-4059-A224-3C608405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Schema Design - 2 Cara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C8153F4-34F3-4673-9F26-367A7EA0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 visual (Table Editor) atau SQL Editor - hasilnya sama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2028F796-E8CB-46CE-9ED5-EFDAF1D9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45726B8D-8DA9-4A5E-AE6C-E9B09BE7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8BDAB7F-0FCD-4FC2-BAA9-7F8C4F40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Cara 1: Table Editor UI</a:t>
            </a:r>
            <a:endParaRPr sz="1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E25630D-881E-4EFD-ABF6-EC5EC5B9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5212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Klik 'New Table' -&gt; isi nama, kolom, tipe data, constraint. Cocok untuk pemula + prototyping cepat.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8D4D5B6-F58C-4094-AC5B-61FAE675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Langkah Bikin Table 'todos':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3F79CEB4-2221-434B-A164-0F7BCE12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46120"/>
            <a:ext cx="493776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1. Sidebar -&gt; Table Editor -&gt; '+ New Table'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2. Nama: 'todos', enable RLS (default)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3. Kolom: id (int8, primary, identity)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4. + Kolom: title (text, not null)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5. + Kolom: completed (bool, default false)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6. + Kolom: user_id (uuid, FK auth.users)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7. + Kolom: created_at (timestamptz, now())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8. Klik 'Save' - table langsung ready</a:t>
            </a:r>
            <a:endParaRPr sz="11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D59E667B-1427-4640-ADB7-180D6D1A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945DA5E2-881D-49B9-B8DD-3C84764A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D8D212F2-7252-472C-85F1-A7F5CA9F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Cara 2: SQL Editor</a:t>
            </a:r>
            <a:endParaRPr sz="14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4426204-B9F4-4820-929F-0A807159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4560"/>
            <a:ext cx="5120640" cy="397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8C5C0036-0CF9-48FA-B9FC-8EBAD3F2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4560"/>
            <a:ext cx="51206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6DDB5170-FF93-4321-B8DF-195CB840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7685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313A3AC4-0E91-4102-A14C-332FE4D5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7685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DFA40D25-4E0E-4561-B0A5-6CE25DB3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27685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EFC0A28-EDF6-4C83-B394-F7C60705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194560"/>
            <a:ext cx="4389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SQL Editor - CREATE TABLE</a:t>
            </a:r>
            <a:endParaRPr sz="9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EF986D8-4BC4-41AD-B85C-481B46B3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60320"/>
            <a:ext cx="4846320" cy="3520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CREATE TABLE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todos (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id          BIGINT PRIMARY KEY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GENERATED ALWAYS AS IDENTITY,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title       TEXT NOT NULL,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completed   BOOLEAN DEFAULT false,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user_id     UUID REFERENCES auth.users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NOT NULL,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created_at  TIMESTAMPTZ DEFAULT now()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-- Enable RLS (CRITICAL!)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ALTER TABLE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todos </a:t>
            </a: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ENABLE ROW LEVEL SECURITY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-- Index untuk query cepat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CREATE INDEX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idx_todos_user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ON todos(user_id);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063130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DCD7615-C851-4E92-9467-8151A023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FA19D77-88F1-49EE-8834-24BC1983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F31636C-A9A4-4E28-914E-84210BE7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4191264154b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47887346d48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6248BBD-B97D-49F8-B058-A57787FB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E854D45-7C65-4231-B01A-E455D0CF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Migrations - Schema Version Control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77A0A2E-656C-45CC-8C43-EC6A9D67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Trackable schema changes - production safety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CE35C9B-AB57-4EF5-B89F-EFF21B25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9CB7A69-5143-48CC-9E62-26F5C321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Problem: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edit schema lewat UI di production = no track record. Tidak tahu siapa ubah apa kapan.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Solution: Supabase CLI - migration file di-git + apply ke dev/staging/prod terurut.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855AD5B3-D1A4-40D9-88BA-0F9C7F37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507C584E-EDBC-4DF2-8C28-1F2D2A8F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7B1C97D-A8A0-4841-91E6-3B155E0C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767E2BCB-3F57-4733-A010-070D6FAA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683B4C05-BA05-40E9-83D4-3DA8461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AE7B6DC9-4BF5-499B-A491-F95BC543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1460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supabase CLI migration workflow</a:t>
            </a:r>
            <a:endParaRPr sz="9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93F6D47F-AA78-466C-803D-AC98463A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1097280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Install CLI + login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npm install -g supabase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supabase login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Initialize project local + link ke remote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supabase init &amp;&amp; supabase link --project-ref abcdefghij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Bikin migration baru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supabase migration new add_todos_table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Created file: supabase/migrations/20260515123000_add_todos_table.sql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Edit SQL, commit ke git, lalu apply ke remote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supabase db push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Applying migration 20260515123000_add_todos_table.sql...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Finished supabase db push.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358767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A51BA5A-DF5B-46AD-9687-630B1AB9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BC1342A-83AA-4CC8-97DE-6D455C77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0111AD9-A91F-4B0F-BB66-1ABEE4BA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D878ADF-8C94-41B3-8E08-266110A2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55BFFD3-98E7-4F4C-9447-CFEC7F44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7443DDB-A656-4CFB-B30B-80CA5A7A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F93F791-7EB0-4796-9F5B-C0A1865B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bc93b41f244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b5cf0f8c04e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1C988B2-52A8-4347-B649-DAF3A45D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04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8D34BA5-8722-4408-A5C1-1C00AA14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Auto-Generated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REST API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7EC1D1F-B322-4DAB-AAB4-8C8A2C1C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84D5B0-D8CE-4780-A89D-A8EE1D15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PostgREST - dari schema PostgreSQL ke endpoint REST otomatis.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934918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F4B2E7B-45E9-46CA-8EA9-39A9011A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DD904D2-D0AF-4313-ACD7-9ABCB0CC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58131BE-2821-46C7-AA41-A164E2D0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aecb127f647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26a4be50b4c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9D04F46-F4DD-4532-B45F-41296A49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7F1823D-942F-4D24-B2A1-F749FCDF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PostgREST - Magic Auto-API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C2F034A-FFA6-4051-9EFC-713CBFC1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Bikin table -&gt; langsung dapat endpoint REST lengkap (CRUD)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8D424F1-4ABC-41F3-AB41-24B802EB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207B683-C88D-4572-8027-13541B0A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Konsep: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PostgREST baca schema database real-time. Tiap table = 1 resource REST. CRUD endpoint auto-tersedia.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Filter, sort, pagination, JOIN antar table - semua bisa via query parameter. Tidak perlu tulis backend code.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3F0581B-24B7-449A-81DB-58A460D5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419E0BD2-43CE-41E9-8568-87B3729B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266449F1-EB4A-4825-8C30-9D713647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8D244762-D866-4992-A4D6-FB9D9537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72AF836-FB00-4953-BA54-488A552B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41B55C56-6F70-47B0-B959-6B45DD0C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1460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PostgREST endpoints - schema 'todos' jadi 4 endpoint</a:t>
            </a:r>
            <a:endParaRPr sz="9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5D86E9BB-F01D-4123-A270-3C22312C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1097280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1. SELECT all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curl https://abc.supabase.co/rest/v1/todos -H 'apikey: eyJ...'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[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{"id": 1, "title": "Belajar Supabase", "completed": false, ...},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{"id": 2, "title": "Push ke GitHub", "completed": true, ...}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]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2. Filter + sort + limit (semua via query param)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curl '.../todos?completed=eq.false&amp;order=created_at.desc&amp;limit=10'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3. INSERT (POST)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curl -X POST .../todos -d '{"title":"New task"}' -H 'Content-Type: application/json'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4. UPDATE (PATCH) + 5. DELETE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curl -X PATCH '.../todos?id=eq.1' -d '{"completed":true}'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curl -X DELETE '.../todos?id=eq.1'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8392864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E501DF9-3E62-4D32-8F61-E5125BE5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C5ECF8-BC45-41CE-B7D3-A5256FAB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BDE13BD-D236-429F-AE61-8284A4CF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eb9ac2a5748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fd02a14f542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9C877E2-376E-415C-BC8A-27936AFC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EB779FE-48D4-4F4D-A759-253509B1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API Keys - anon vs service_role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7F69798-AE52-4159-89AC-D8368750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Kunci akses dengan permission yang sangat berbeda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811D965-DF37-4202-9C62-4C73DE52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AA9EA5C9-9EB6-4E25-8D63-9490153C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6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ec887760244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5087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6E556876-2585-4DC6-9CA2-3FFAFFA7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417320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anon (public) key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1BDA504F-65AE-4A61-8AEB-20414680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5212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Boleh expose di frontend - tunduk pada RLS policy. Aman kalau RLS benar.</a:t>
            </a:r>
            <a:endParaRPr sz="1100"/>
          </a:p>
        </p:txBody>
      </p:sp>
      <p:pic>
        <p:nvPicPr>
          <p:cNvPr id="6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8ca62cc8242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8346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79AB9A6F-F7B3-4409-B451-CF11258F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74320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Embed di JavaScript browser</a:t>
            </a:r>
            <a:endParaRPr sz="1100"/>
          </a:p>
        </p:txBody>
      </p:sp>
      <p:pic>
        <p:nvPicPr>
          <p:cNvPr id="7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8ca62cc8242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4747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8" name="Text 11">
            <a:extLst xmlns:a="http://schemas.openxmlformats.org/drawingml/2006/main">
              <a:ext uri="{FF2B5EF4-FFF2-40B4-BE49-F238E27FC236}">
                <a16:creationId xmlns:a16="http://schemas.microsoft.com/office/drawing/2014/main" id="{887ACFA6-1C41-4127-AEF7-ED48DA1E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38328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Setiap request dibatasi RLS policy</a:t>
            </a:r>
            <a:endParaRPr sz="1100"/>
          </a:p>
        </p:txBody>
      </p:sp>
      <p:pic>
        <p:nvPicPr>
          <p:cNvPr id="7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8ca62cc8242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1148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0" name="Text 12">
            <a:extLst xmlns:a="http://schemas.openxmlformats.org/drawingml/2006/main">
              <a:ext uri="{FF2B5EF4-FFF2-40B4-BE49-F238E27FC236}">
                <a16:creationId xmlns:a16="http://schemas.microsoft.com/office/drawing/2014/main" id="{D4F21D20-0B8A-4F27-AFF6-F8146CE1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02336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Aman kalau RLS strict + auth setup benar</a:t>
            </a:r>
            <a:endParaRPr sz="1100"/>
          </a:p>
        </p:txBody>
      </p:sp>
      <p:pic>
        <p:nvPicPr>
          <p:cNvPr id="7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5aa6b0bcc4a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548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2" name="Text 13">
            <a:extLst xmlns:a="http://schemas.openxmlformats.org/drawingml/2006/main">
              <a:ext uri="{FF2B5EF4-FFF2-40B4-BE49-F238E27FC236}">
                <a16:creationId xmlns:a16="http://schemas.microsoft.com/office/drawing/2014/main" id="{0829ED1B-6814-46C6-B923-A49435B7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6344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WAJIB enable RLS pada tiap table!</a:t>
            </a:r>
            <a:endParaRPr sz="1100"/>
          </a:p>
        </p:txBody>
      </p:sp>
      <p:pic>
        <p:nvPicPr>
          <p:cNvPr id="76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5aa6b0bcc4a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3949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ext 14">
            <a:extLst xmlns:a="http://schemas.openxmlformats.org/drawingml/2006/main">
              <a:ext uri="{FF2B5EF4-FFF2-40B4-BE49-F238E27FC236}">
                <a16:creationId xmlns:a16="http://schemas.microsoft.com/office/drawing/2014/main" id="{F41D13EA-AC89-4E5F-83E9-4A003988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30352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Tanpa RLS = data public ke siapa saja</a:t>
            </a:r>
            <a:endParaRPr sz="1100"/>
          </a:p>
        </p:txBody>
      </p:sp>
      <p:sp>
        <p:nvSpPr>
          <p:cNvPr id="25" name="Shape 15">
            <a:extLst xmlns:a="http://schemas.openxmlformats.org/drawingml/2006/main">
              <a:ext uri="{FF2B5EF4-FFF2-40B4-BE49-F238E27FC236}">
                <a16:creationId xmlns:a16="http://schemas.microsoft.com/office/drawing/2014/main" id="{0B6684AD-FFF4-434A-BF88-3E32543D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6" name="Shape 16">
            <a:extLst xmlns:a="http://schemas.openxmlformats.org/drawingml/2006/main">
              <a:ext uri="{FF2B5EF4-FFF2-40B4-BE49-F238E27FC236}">
                <a16:creationId xmlns:a16="http://schemas.microsoft.com/office/drawing/2014/main" id="{A327566F-FDBB-4069-B2E9-559291B5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pic>
        <p:nvPicPr>
          <p:cNvPr id="80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5aa6b0bcc4a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5087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19FEF67A-BA81-4A4C-851F-BDF2D2E8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417320"/>
            <a:ext cx="4663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service_role key</a:t>
            </a:r>
            <a:endParaRPr sz="1500"/>
          </a:p>
        </p:txBody>
      </p:sp>
      <p:sp>
        <p:nvSpPr>
          <p:cNvPr id="29" name="Text 18">
            <a:extLst xmlns:a="http://schemas.openxmlformats.org/drawingml/2006/main">
              <a:ext uri="{FF2B5EF4-FFF2-40B4-BE49-F238E27FC236}">
                <a16:creationId xmlns:a16="http://schemas.microsoft.com/office/drawing/2014/main" id="{FA31C7AD-FF52-45BF-85D3-7C958E1E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884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BYPASS RLS - full admin access. Server-side ONLY.</a:t>
            </a:r>
            <a:endParaRPr sz="1100"/>
          </a:p>
        </p:txBody>
      </p:sp>
      <p:pic>
        <p:nvPicPr>
          <p:cNvPr id="83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5aa6b0bcc4a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28346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1" name="Text 19">
            <a:extLst xmlns:a="http://schemas.openxmlformats.org/drawingml/2006/main">
              <a:ext uri="{FF2B5EF4-FFF2-40B4-BE49-F238E27FC236}">
                <a16:creationId xmlns:a16="http://schemas.microsoft.com/office/drawing/2014/main" id="{AEC2CA70-40C5-4056-AD11-0112C098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743200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JANGAN pernah commit ke git</a:t>
            </a:r>
            <a:endParaRPr sz="1100"/>
          </a:p>
        </p:txBody>
      </p:sp>
      <p:pic>
        <p:nvPicPr>
          <p:cNvPr id="85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5aa6b0bcc4a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34747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3" name="Text 20">
            <a:extLst xmlns:a="http://schemas.openxmlformats.org/drawingml/2006/main">
              <a:ext uri="{FF2B5EF4-FFF2-40B4-BE49-F238E27FC236}">
                <a16:creationId xmlns:a16="http://schemas.microsoft.com/office/drawing/2014/main" id="{05F3BE14-4454-4332-A0DA-62A42D80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383280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JANGAN expose ke frontend code</a:t>
            </a:r>
            <a:endParaRPr sz="1100"/>
          </a:p>
        </p:txBody>
      </p:sp>
      <p:pic>
        <p:nvPicPr>
          <p:cNvPr id="87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8ca62cc8242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41148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5" name="Text 21">
            <a:extLst xmlns:a="http://schemas.openxmlformats.org/drawingml/2006/main">
              <a:ext uri="{FF2B5EF4-FFF2-40B4-BE49-F238E27FC236}">
                <a16:creationId xmlns:a16="http://schemas.microsoft.com/office/drawing/2014/main" id="{13055DED-2AC6-4119-8E47-6AB2061D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023360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di server: Edge Functions, Express, FastAPI</a:t>
            </a:r>
            <a:endParaRPr sz="1100"/>
          </a:p>
        </p:txBody>
      </p:sp>
      <p:pic>
        <p:nvPicPr>
          <p:cNvPr id="89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8ca62cc8242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47548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7" name="Text 22">
            <a:extLst xmlns:a="http://schemas.openxmlformats.org/drawingml/2006/main">
              <a:ext uri="{FF2B5EF4-FFF2-40B4-BE49-F238E27FC236}">
                <a16:creationId xmlns:a16="http://schemas.microsoft.com/office/drawing/2014/main" id="{2EE17C6C-D5E7-4C1C-8CA2-DC4C88B8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663440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untuk admin task: cleanup, migration, scrip</a:t>
            </a:r>
            <a:endParaRPr sz="1100"/>
          </a:p>
        </p:txBody>
      </p:sp>
      <p:pic>
        <p:nvPicPr>
          <p:cNvPr id="91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8ca62cc8242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53949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9" name="Text 23">
            <a:extLst xmlns:a="http://schemas.openxmlformats.org/drawingml/2006/main">
              <a:ext uri="{FF2B5EF4-FFF2-40B4-BE49-F238E27FC236}">
                <a16:creationId xmlns:a16="http://schemas.microsoft.com/office/drawing/2014/main" id="{9560250D-E6D3-43E5-AFDD-42D178A3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5303520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Simpan di env var server (SUPABASE_SERVICE_KEY)</a:t>
            </a:r>
            <a:endParaRPr sz="1100"/>
          </a:p>
        </p:txBody>
      </p:sp>
      <p:sp>
        <p:nvSpPr>
          <p:cNvPr id="40" name="Text 24">
            <a:extLst xmlns:a="http://schemas.openxmlformats.org/drawingml/2006/main">
              <a:ext uri="{FF2B5EF4-FFF2-40B4-BE49-F238E27FC236}">
                <a16:creationId xmlns:a16="http://schemas.microsoft.com/office/drawing/2014/main" id="{6518B419-E4CD-40D9-AF25-160C7EB0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11247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Rule of thumb: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anon key di frontend (dengan RLS proper), service_role key cuma di backend trusted environment.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88703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3A74B3A-CD35-4F5D-98EC-553F5850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80A1A51-84B3-43BF-8F41-9F3345A7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ACE3503-86D4-4F36-A243-B2A3D8B2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2146992014b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8ea49775849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C15FE39-E19F-4DC0-80EB-FCEF6236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FCD8AD4-44E7-4837-9B36-3C899C60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supabase-js Client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119425C-10C8-4904-8451-CB8CFCF9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JavaScript SDK - lebih ergonomic dari raw HTTP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00EDE21-4552-4CF8-942B-F589EDB9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5720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B67CE88-A11F-48B3-973A-D80E8906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4206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Setup Client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FCE5DDBF-3169-406D-B074-60BCD27C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420624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CE7213D6-5D56-4080-924F-049D338D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42062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9F2FA76A-23EA-44AD-8703-F78374F3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4825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3C1B9238-BEF4-41F9-A62B-36817CC1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4825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8486D26-B6E5-48DA-9B82-D8D9F366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4825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067A4ED2-6F46-4FB8-9A74-D8B7C462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6596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lib/supabase.js</a:t>
            </a:r>
            <a:endParaRPr sz="9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56E24974-25E3-44FA-8F6A-328C6F3B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31720"/>
            <a:ext cx="393192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import { createClient }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from '@supabase/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supabase-js'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export const supabase =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createClient(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process.env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.NEXT_PUBLIC_URL,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process.env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.ANON_KEY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)</a:t>
            </a:r>
            <a:endParaRPr sz="9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1ABAE8C4-3D4C-4AD1-97D3-9ABAC6F6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9768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Install:</a:t>
            </a:r>
            <a:endParaRPr sz="11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00DA6553-511F-44D9-AC6D-D1CA32B8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17720"/>
            <a:ext cx="42062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3028F2DF-E927-4BC0-A33D-A2212AEE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1772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npm i @supabase/supabase-js</a:t>
            </a:r>
            <a:endParaRPr sz="105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A91DC0D-4A9C-473C-9B40-4169ED48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42062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Atau pakai client SDK Python, Dart, Swift, Kotlin - semua officially supported.</a:t>
            </a:r>
            <a:endParaRPr sz="11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AF1F9947-819C-4DF3-8136-3EA5037E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417320"/>
            <a:ext cx="64922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C2114EC2-E418-4774-B74E-5364748C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417320"/>
            <a:ext cx="64922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9B782386-C544-4381-B34E-27114272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C97BF61-63D1-459B-A247-5A59011B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A4773655-3334-4B6E-AC2E-204979DD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861781D-0512-4EC9-8D70-3E6379B4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417320"/>
            <a:ext cx="5760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CRUD examples</a:t>
            </a:r>
            <a:endParaRPr sz="9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2E9DEC4C-AD6F-4B89-8AFC-2C87DCE7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783080"/>
            <a:ext cx="62179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SELECT dengan filter + sort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const { data, error } = await supabase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.from('todos')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.select('*')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.eq('completed', false)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.order('created_at', { ascending: false })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.limit(10)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INSERT - return inserted row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await supabase.from('todos').insert({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title: 'Belajar RLS',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user_id: user.id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}).select()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UPDATE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await supabase.from('todos')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.update({ completed: true })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.eq('id', 42)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DELETE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await supabase.from('todos').delete().eq('id', 42)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983966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AAEB2B0-0C69-4C9B-9FC4-60706DA5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1319FC-7809-451E-A158-D18FB5AA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F2FEDBF-F49F-4118-8F1C-0A54AEA0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E65E436-BBA2-4C6E-9C56-A08403AA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8A3D6AF-24B9-4FBF-9622-A76CA6D3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18528D5-938B-433D-8F38-30172C75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64E7786-7F06-4F10-BF7B-942F6A63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046c6dcf44c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ae73bef3f4c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BB50ED29-8894-4B0B-814E-F77C45B3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05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A63E373-798E-401A-AE7A-B7D118D4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Authentication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RLS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4FA81989-90C4-4B14-A46B-0535EBF6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E9677A1-16CD-4F41-8DD4-E86FA4BD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Login + Row Level Security - konsep paling penting di Supabase.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188681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FDBCCA-917E-400A-A8C7-E2FF88E7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78E3936-DBE2-48DD-9D3F-3BB884CB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D0A6FCE-EA4F-4102-92C5-C42DAD93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a3365b89441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bec22013443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9C843E8-0682-40BC-8C89-12A6FB6D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2E03A15-9585-428B-9B55-42B2142D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GoTrue - Authentication Service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266DF44-4E40-4DA5-A54A-B0155192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Email + password, OAuth, magic link, MFA - semua built-in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5DF8FD5-5DCF-4F19-8230-E488A731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7F28A947-BA0A-41F0-B907-40F794B2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ce3ed611943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5900" y="169164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E08DB5A8-8465-4581-A8AF-AA69457A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Email + Password</a:t>
            </a:r>
            <a:endParaRPr sz="14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E1AA8855-7C4D-4CAC-AA41-537BD37C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24231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Klasik. Auto-confirm email. Reset password flow built-in.</a:t>
            </a:r>
            <a:endParaRPr sz="11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7B3A2A62-BEAB-41AA-BB68-CC3D629C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526280"/>
            <a:ext cx="2423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7C62D9F2-2CD3-4E80-AD45-E7953C47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617720"/>
            <a:ext cx="2423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Kode:</a:t>
            </a:r>
            <a:endParaRPr sz="9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20809803-73B5-43C5-9841-B36CD6E4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892040"/>
            <a:ext cx="24231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FA879820-2B35-4D09-8D77-09507EC8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37760"/>
            <a:ext cx="2331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supabase.auth.signUp({ email, password })</a:t>
            </a:r>
            <a:endParaRPr sz="9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9AAEA249-2D1B-4F50-9F96-46775D2E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B821425A-CC83-403F-8FFA-E8B5B3EA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707eb833c4b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7972" y="169164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474ADFD4-204A-425E-B66C-6E933A3C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42316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Magic Link</a:t>
            </a:r>
            <a:endParaRPr sz="14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BB625DE8-89F1-44DB-9BF7-E96FC3FA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880360"/>
            <a:ext cx="24231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User input email, dapat link login - tidak perlu password.</a:t>
            </a:r>
            <a:endParaRPr sz="11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4F65818B-36E1-4D52-89B0-4C707B4B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4526280"/>
            <a:ext cx="2423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97BAC284-099B-4955-940C-1644A75B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4617720"/>
            <a:ext cx="2423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Kode:</a:t>
            </a:r>
            <a:endParaRPr sz="900"/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A30BDD7F-74B6-4C6B-B691-1991F165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4892040"/>
            <a:ext cx="24231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AC2528FF-099F-4D2E-9949-706E6AC5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4937760"/>
            <a:ext cx="2331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supabase.auth.signInWithOtp({ email })</a:t>
            </a:r>
            <a:endParaRPr sz="90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0CCB2ADC-BC6C-477E-80E4-7C3E7ECF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B6C72FC3-D739-498B-8D90-4D514516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8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7a66d2b554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0044" y="169164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723C1F9C-B9AB-4B2F-A324-9BEE0EE9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42316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OAuth Provider</a:t>
            </a:r>
            <a:endParaRPr sz="1400"/>
          </a:p>
        </p:txBody>
      </p:sp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4B4CBBCE-ACC5-4F41-8A4B-2E4A83DE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2880360"/>
            <a:ext cx="24231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Google, GitHub, Apple, Discord, dll - setup di dashboard.</a:t>
            </a:r>
            <a:endParaRPr sz="1100"/>
          </a:p>
        </p:txBody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57A48FD0-4B8D-4786-B0C4-0963D1DF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4526280"/>
            <a:ext cx="2423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7150706B-72E8-4C3E-8F32-E1F73127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4617720"/>
            <a:ext cx="2423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Kode:</a:t>
            </a:r>
            <a:endParaRPr sz="900"/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3569ACBD-60BE-4230-A529-3990E925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4892040"/>
            <a:ext cx="24231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259AEEB8-A18D-4C95-BF02-0E48D31B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937760"/>
            <a:ext cx="2331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supabase.auth.signInWithOAuth({ provider: 'google' })</a:t>
            </a:r>
            <a:endParaRPr sz="900"/>
          </a:p>
        </p:txBody>
      </p:sp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45728EFF-C0B1-4907-9928-258BB33E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0456606D-F599-44C1-8852-DFC6F45E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9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a954ef82c41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72116" y="169164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40" name="Text 32">
            <a:extLst xmlns:a="http://schemas.openxmlformats.org/drawingml/2006/main">
              <a:ext uri="{FF2B5EF4-FFF2-40B4-BE49-F238E27FC236}">
                <a16:creationId xmlns:a16="http://schemas.microsoft.com/office/drawing/2014/main" id="{E326A2D6-2582-49B2-B289-447A2CCE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42316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Multi-Factor Auth</a:t>
            </a:r>
            <a:endParaRPr sz="1400"/>
          </a:p>
        </p:txBody>
      </p:sp>
      <p:sp>
        <p:nvSpPr>
          <p:cNvPr id="41" name="Text 33">
            <a:extLst xmlns:a="http://schemas.openxmlformats.org/drawingml/2006/main">
              <a:ext uri="{FF2B5EF4-FFF2-40B4-BE49-F238E27FC236}">
                <a16:creationId xmlns:a16="http://schemas.microsoft.com/office/drawing/2014/main" id="{2B582CEA-8C4C-46C8-AF21-43FA4268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2880360"/>
            <a:ext cx="24231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TOTP via authenticator app. Optional per user.</a:t>
            </a:r>
            <a:endParaRPr sz="1100"/>
          </a:p>
        </p:txBody>
      </p:sp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BCF94BFA-D867-454B-A567-401EC2C7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4526280"/>
            <a:ext cx="2423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870F65D3-8531-48D6-9739-3D0C910F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4617720"/>
            <a:ext cx="2423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Kode:</a:t>
            </a:r>
            <a:endParaRPr sz="900"/>
          </a:p>
        </p:txBody>
      </p:sp>
      <p:sp>
        <p:nvSpPr>
          <p:cNvPr id="44" name="Shape 36">
            <a:extLst xmlns:a="http://schemas.openxmlformats.org/drawingml/2006/main">
              <a:ext uri="{FF2B5EF4-FFF2-40B4-BE49-F238E27FC236}">
                <a16:creationId xmlns:a16="http://schemas.microsoft.com/office/drawing/2014/main" id="{685A7B5E-5644-42E8-9056-92C7E974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4892040"/>
            <a:ext cx="24231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5" name="Text 37">
            <a:extLst xmlns:a="http://schemas.openxmlformats.org/drawingml/2006/main">
              <a:ext uri="{FF2B5EF4-FFF2-40B4-BE49-F238E27FC236}">
                <a16:creationId xmlns:a16="http://schemas.microsoft.com/office/drawing/2014/main" id="{95D78709-237C-42C2-B36A-FD61D705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937760"/>
            <a:ext cx="2331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supabase.auth.mfa.enroll({ factorType: 'totp' })</a:t>
            </a:r>
            <a:endParaRPr sz="900"/>
          </a:p>
        </p:txBody>
      </p:sp>
      <p:sp>
        <p:nvSpPr>
          <p:cNvPr id="46" name="Text 38">
            <a:extLst xmlns:a="http://schemas.openxmlformats.org/drawingml/2006/main">
              <a:ext uri="{FF2B5EF4-FFF2-40B4-BE49-F238E27FC236}">
                <a16:creationId xmlns:a16="http://schemas.microsoft.com/office/drawing/2014/main" id="{FA5656C4-1875-4A53-9A38-7F05E770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User yang sign-up otomatis tersimpan di </a:t>
            </a:r>
            <a:r>
              <a:rPr sz="1100" b="1" i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auth.users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table. UUID-nya dipakai sebagai foreign key di tabel app Anda.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9832549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DC5D853-1013-4DE9-99DB-7FA766CD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B11391-B4FB-4486-BB0A-91C917AB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B294385-331A-487E-87F8-3A8E4ACF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dc33c55d845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2f886e6ea4d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CE3D48B6-6ECA-4AB8-AF2C-BD891DA7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70E3705-9133-4216-9527-83AF7EAD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Row Level Security (RLS) - The Big Idea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905001E-E080-452F-A7CF-F9F06ED0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Authorization di level database - setiap row punya policy siapa boleh akses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E7CDCB7-E08D-4A87-851F-123B9007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pic>
        <p:nvPicPr>
          <p:cNvPr id="4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1c128ee0142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69164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1FC74E6-7303-4716-B2CA-10DD6997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54480"/>
            <a:ext cx="9784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WAJIB ENABLE RLS UNTUK SEMUA TABLE PUBLIC!</a:t>
            </a:r>
            <a:endParaRPr sz="16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75ACA9A5-20F6-4FDE-AFFE-212D7A5F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65960"/>
            <a:ext cx="9784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Tanpa RLS, anon key bisa SELECT/INSERT/UPDATE/DELETE semua data semua user. Massive security hole.</a:t>
            </a:r>
            <a:endParaRPr sz="12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A83591CF-BBB9-44C7-95A0-DE97CDD7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74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Cara Kerja RLS</a:t>
            </a:r>
            <a:endParaRPr sz="14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205C537A-CF9A-475E-8E70-3E41A32D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4680"/>
            <a:ext cx="27432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E1985BBC-2001-4325-8ED3-B4C709FD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468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76EE56D3-D3F3-476E-842A-7AF3C261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468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Default Deny</a:t>
            </a:r>
            <a:endParaRPr sz="13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4D953272-C588-40E3-9AC5-4218E793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03320"/>
            <a:ext cx="24688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Setelah ENABLE RLS, semua akses ke table di-block. Whitelist via policy.</a:t>
            </a:r>
            <a:endParaRPr sz="11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AC76AA3E-D1DA-4F44-B127-CC6C0CE9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154680"/>
            <a:ext cx="27432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F6497304-5A64-49F6-856A-3B9119A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15468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0E0FA310-F7A7-4B8F-A57E-7C8357E6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15468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Policy = WHERE</a:t>
            </a:r>
            <a:endParaRPr sz="1300"/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58429CD-B63E-4F47-A956-4B0D4116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703320"/>
            <a:ext cx="24688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Policy itu seperti otomatis menambahkan WHERE ke setiap query.</a:t>
            </a:r>
            <a:endParaRPr sz="1100"/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3C8CC759-9C55-42C7-B133-CB8FC4FD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154680"/>
            <a:ext cx="27432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6CB42F62-5CC8-4FFB-B952-B83EF954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15468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4C68C0D5-CC97-4835-84B3-269ED3B7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15468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 Operation</a:t>
            </a:r>
            <a:endParaRPr sz="1300"/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FA67DB53-A958-41D0-A481-267D992A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703320"/>
            <a:ext cx="24688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Bisa beda policy untuk SELECT, INSERT, UPDATE, DELETE.</a:t>
            </a:r>
            <a:endParaRPr sz="1100"/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C0E11676-4B35-41B0-AF98-F5DB7B76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154680"/>
            <a:ext cx="27432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8EB75001-5242-4533-B555-29D38285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15468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74EB9B06-FE6A-48DD-B790-69642680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15468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Pakai auth.uid()</a:t>
            </a:r>
            <a:endParaRPr sz="1300"/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0CD49C9-2DA7-4B6F-813B-FF5A2F67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703320"/>
            <a:ext cx="24688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Function bawaan return UUID user yang lagi login - cocokkan dengan user_id row.</a:t>
            </a:r>
            <a:endParaRPr sz="1100"/>
          </a:p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9F1E13FB-FACC-40FD-969B-4998B30F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74920"/>
            <a:ext cx="112471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2" name="Text 27">
            <a:extLst xmlns:a="http://schemas.openxmlformats.org/drawingml/2006/main">
              <a:ext uri="{FF2B5EF4-FFF2-40B4-BE49-F238E27FC236}">
                <a16:creationId xmlns:a16="http://schemas.microsoft.com/office/drawing/2014/main" id="{9DD9C440-AF55-46EB-87EB-43CB61C2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6636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Mental Model</a:t>
            </a:r>
            <a:endParaRPr sz="1300"/>
          </a:p>
        </p:txBody>
      </p:sp>
      <p:sp>
        <p:nvSpPr>
          <p:cNvPr id="33" name="Text 28">
            <a:extLst xmlns:a="http://schemas.openxmlformats.org/drawingml/2006/main">
              <a:ext uri="{FF2B5EF4-FFF2-40B4-BE49-F238E27FC236}">
                <a16:creationId xmlns:a16="http://schemas.microsoft.com/office/drawing/2014/main" id="{E1431BC4-8991-46B4-9843-0847AE20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0"/>
            <a:ext cx="10972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Tanpa RLS:</a:t>
            </a:r>
            <a:r>
              <a:rPr sz="11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  SELECT * FROM todos</a:t>
            </a: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  (semua row, semua user)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Dengan RLS policy:</a:t>
            </a: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SELECT * FROM todos WHERE user_id = auth.uid()</a:t>
            </a: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  (cuma row user sendiri)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563992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F7AC0B8-76A4-4C31-BB6E-BBA21598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83DD9B-F152-4843-822A-E1C3B09A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86A7D8D-6FE0-45C1-9278-CA142CB7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de8692c8d42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7b41874834b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1C2725E-4DA0-4B61-B1D2-1B8B5B8A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91F40B2-7502-4F43-AD22-CFE2511E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RLS Policy Examples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CE6A73E-5808-4919-B750-F944DC97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Tulis policy dengan SQL - mirip WHERE clause biasa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65FD89A-ADAB-489C-84C0-B10D6655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8B3C5884-FBE9-46F2-A768-D7AC708B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81384503-85CA-4CD2-8700-E0420A18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ABF3722-8970-41B6-B6BB-0752F2A6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2F66CAE2-D418-4F37-BD01-32B251D4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B1BA329-8679-4030-A77C-0A890F0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Common RLS patterns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F9A3D1A0-B363-4A80-847C-531234E5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-- Pattern 1: User cuma bisa lihat row miliknya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CREATE POLICY</a:t>
            </a:r>
            <a:r>
              <a:rPr sz="11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"Users see own todos"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ON todos </a:t>
            </a: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FOR SELECT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USING (</a:t>
            </a: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auth.uid() = user_id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-- Pattern 2: User cuma bisa INSERT atas nama dirinya sendiri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CREATE POLICY</a:t>
            </a:r>
            <a:r>
              <a:rPr sz="11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"Users insert own todos"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ON todos </a:t>
            </a: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FOR INSERT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WITH CHECK (</a:t>
            </a: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auth.uid() = user_id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-- Pattern 3: Public read, authenticated write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CREATE POLICY</a:t>
            </a:r>
            <a:r>
              <a:rPr sz="11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"Public can read" ON posts </a:t>
            </a: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FOR SELECT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USING (true);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CREATE POLICY</a:t>
            </a:r>
            <a:r>
              <a:rPr sz="11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"Logged-in can post" ON posts </a:t>
            </a: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FOR INSERT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WITH CHECK (</a:t>
            </a: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auth.role() = 'authenticated'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-- Pattern 4: Admin role bypass (custom claim)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CREATE POLICY</a:t>
            </a:r>
            <a:r>
              <a:rPr sz="11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"Admin all access" ON todos </a:t>
            </a: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FOR ALL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USING (</a:t>
            </a: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auth.jwt() -&gt;&gt; 'role' = 'admin'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);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94457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E622737-25FA-42AA-B61C-9EE896C3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65DFD3F-158D-45AC-9548-0AF8B10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0BCAE7B-3677-4D15-8577-9216470F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28644D9-5971-4F74-87D8-51CCD72E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B484804-FB39-454A-B284-5CAF9379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8312536-ECDE-446C-A881-BE608D3A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E7A4F01-B2C7-4D87-895C-75436EBF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6a438d00340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3bc3f903a43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98CE161-45AE-4D79-B374-4A9C9FEB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06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3C4CFE0-D1B1-46F7-866C-E2036C0A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Realtime, Storage,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Edge Functions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7E5C2757-99BE-4B98-ADB2-08CE789A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114F64B9-D62C-42A6-9607-6A1F5541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3 fitur lain yang bikin Supabase comprehensive.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4150359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C91CD3C-6042-4DFD-BFAC-0F8121BC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C850B34-B757-459C-8BAE-D227A38A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0AC7BB4-A614-4185-A8A8-A7F2237A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517fe3cff42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0dd8e4e134e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8420A29-38D3-40F1-A0CB-C54980AD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B40A7A3-E64D-4A89-9A11-F9F7555F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Realtime - Subscribe to Database Changes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2D3B938-4571-4FCF-BEF2-42F0331E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Listen INSERT/UPDATE/DELETE via WebSocket - tanpa polling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3C184C9-02A1-4308-AD3E-481AC575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0292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430F101-6E8E-45E4-A0AC-85724F3C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Cara Kerja</a:t>
            </a:r>
            <a:endParaRPr sz="14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C512062-9681-4770-95C2-20C11424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4572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1. Enable 'Replication' di table (dashboard)</a:t>
            </a:r>
            <a:endParaRPr sz="110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2. Client subscribe channel via WebSocket</a:t>
            </a:r>
            <a:endParaRPr sz="110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3. Postgres WAL stream perubahan ke Supabase</a:t>
            </a:r>
            <a:endParaRPr sz="110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4. Supabase broadcast ke subscriber</a:t>
            </a:r>
            <a:endParaRPr sz="110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5. UI auto-update tanpa refresh</a:t>
            </a:r>
            <a:endParaRPr sz="11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6B414B60-04FB-4BB2-A5A8-15DCB1FA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Use Cases</a:t>
            </a:r>
            <a:endParaRPr sz="1400"/>
          </a:p>
        </p:txBody>
      </p:sp>
      <p:pic>
        <p:nvPicPr>
          <p:cNvPr id="4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615bc6a874b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46227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4A4E87A2-1753-4C59-A1F6-BA185CFA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389120"/>
            <a:ext cx="4114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Chat application (message baru muncul)</a:t>
            </a:r>
            <a:endParaRPr sz="1100"/>
          </a:p>
        </p:txBody>
      </p:sp>
      <p:pic>
        <p:nvPicPr>
          <p:cNvPr id="4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615bc6a874b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91947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58F4F790-1732-4062-9CCD-9BFE6F3B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4114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Live dashboard (metrics update real-time)</a:t>
            </a:r>
            <a:endParaRPr sz="1100"/>
          </a:p>
        </p:txBody>
      </p:sp>
      <p:pic>
        <p:nvPicPr>
          <p:cNvPr id="5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615bc6a874b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37667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1D447B8F-0D61-4567-AA26-75F36620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03520"/>
            <a:ext cx="4114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Collaborative editing (Google Docs-style)</a:t>
            </a:r>
            <a:endParaRPr sz="1100"/>
          </a:p>
        </p:txBody>
      </p:sp>
      <p:pic>
        <p:nvPicPr>
          <p:cNvPr id="5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615bc6a874b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83387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1" name="Text 13">
            <a:extLst xmlns:a="http://schemas.openxmlformats.org/drawingml/2006/main">
              <a:ext uri="{FF2B5EF4-FFF2-40B4-BE49-F238E27FC236}">
                <a16:creationId xmlns:a16="http://schemas.microsoft.com/office/drawing/2014/main" id="{652B5E13-3080-4CD0-9C57-E3923B82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760720"/>
            <a:ext cx="4114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Live auction / bidding system</a:t>
            </a:r>
            <a:endParaRPr sz="1100"/>
          </a:p>
        </p:txBody>
      </p:sp>
      <p:sp>
        <p:nvSpPr>
          <p:cNvPr id="22" name="Shape 14">
            <a:extLst xmlns:a="http://schemas.openxmlformats.org/drawingml/2006/main">
              <a:ext uri="{FF2B5EF4-FFF2-40B4-BE49-F238E27FC236}">
                <a16:creationId xmlns:a16="http://schemas.microsoft.com/office/drawing/2014/main" id="{99C6130D-EBB9-4DDB-A346-5025EDDC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417320"/>
            <a:ext cx="59436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3" name="Shape 15">
            <a:extLst xmlns:a="http://schemas.openxmlformats.org/drawingml/2006/main">
              <a:ext uri="{FF2B5EF4-FFF2-40B4-BE49-F238E27FC236}">
                <a16:creationId xmlns:a16="http://schemas.microsoft.com/office/drawing/2014/main" id="{ABD56F45-7F2B-4AE7-834B-2D0976D6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417320"/>
            <a:ext cx="59436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4" name="Shape 16">
            <a:extLst xmlns:a="http://schemas.openxmlformats.org/drawingml/2006/main">
              <a:ext uri="{FF2B5EF4-FFF2-40B4-BE49-F238E27FC236}">
                <a16:creationId xmlns:a16="http://schemas.microsoft.com/office/drawing/2014/main" id="{31753178-76F6-445A-99D3-267616C2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5" name="Shape 17">
            <a:extLst xmlns:a="http://schemas.openxmlformats.org/drawingml/2006/main">
              <a:ext uri="{FF2B5EF4-FFF2-40B4-BE49-F238E27FC236}">
                <a16:creationId xmlns:a16="http://schemas.microsoft.com/office/drawing/2014/main" id="{BBCCA510-840D-43ED-953E-D54845B3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6" name="Shape 18">
            <a:extLst xmlns:a="http://schemas.openxmlformats.org/drawingml/2006/main">
              <a:ext uri="{FF2B5EF4-FFF2-40B4-BE49-F238E27FC236}">
                <a16:creationId xmlns:a16="http://schemas.microsoft.com/office/drawing/2014/main" id="{5BD605ED-F79D-4161-BB59-4C2E22FC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6F6DB1AE-84DA-4760-827E-147C8E48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1732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subscribe to todos changes</a:t>
            </a:r>
            <a:endParaRPr sz="900"/>
          </a:p>
        </p:txBody>
      </p:sp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560D57A0-484F-41ED-A37A-12BAC2A5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783080"/>
            <a:ext cx="56692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Subscribe ke perubahan tabel 'todos'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const channel = supabase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.channel('todos-changes')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.on(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'postgres_changes',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{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event: '*',        // INSERT/UPDATE/DELETE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schema: 'public',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table: 'todos',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filter: `user_id=eq.${user.id}`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},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(payload) =&gt; {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console.log('Change!', payload)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    // payload.eventType, payload.new, payload.old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updateUI(payload)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}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.subscribe()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Unsubscribe saat component unmount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channel.unsubscribe()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3815305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59552F-6C62-4617-9CF8-4BA62B90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2C4F2B-6BEF-4442-A5EA-705AC39D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019D3B8-2139-4271-BE2E-CD6F8A98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607f26ae948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2d82a369a4e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08366F3-3AA6-47DF-B4BA-06D6368A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B4C366F-4E49-4DF4-9E02-E98F99DF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Storage - File Uploads dengan RLS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349AEA1-A4D2-4418-914A-C7800123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S3-like object storage, terintegrasi dengan auth + RLS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90DA043-3E80-48B7-BD32-452DD4F7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0292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1ECA151F-E432-4931-AF74-A0A86C8B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Konsep</a:t>
            </a:r>
            <a:endParaRPr sz="1400"/>
          </a:p>
        </p:txBody>
      </p:sp>
      <p:pic>
        <p:nvPicPr>
          <p:cNvPr id="4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2540bbcce48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EAEC197F-1779-4D3B-8DD0-E2E2B52E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011680"/>
            <a:ext cx="4114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Bucket = folder root (mis. 'avatars', 'documents')</a:t>
            </a:r>
            <a:endParaRPr sz="1100"/>
          </a:p>
        </p:txBody>
      </p:sp>
      <p:pic>
        <p:nvPicPr>
          <p:cNvPr id="5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765f122c14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7432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63C75DCF-F6AA-463F-80F5-CB25CF12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51760"/>
            <a:ext cx="4114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Policy per bucket - mirip RLS</a:t>
            </a:r>
            <a:endParaRPr sz="1100"/>
          </a:p>
        </p:txBody>
      </p:sp>
      <p:pic>
        <p:nvPicPr>
          <p:cNvPr id="5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381cfdc764b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3832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8BF78237-FD32-4619-904F-D23AE790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91840"/>
            <a:ext cx="4114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CDN-backed - file di-cache global</a:t>
            </a:r>
            <a:endParaRPr sz="1100"/>
          </a:p>
        </p:txBody>
      </p:sp>
      <p:pic>
        <p:nvPicPr>
          <p:cNvPr id="5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249e276b74b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0233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5597769E-B547-47B9-865F-224CE17E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931920"/>
            <a:ext cx="4114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Public URL atau signed URL (expirable)</a:t>
            </a:r>
            <a:endParaRPr sz="1100"/>
          </a:p>
        </p:txBody>
      </p:sp>
      <p:pic>
        <p:nvPicPr>
          <p:cNvPr id="5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2747e2b084b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6634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0F452321-65BB-4C42-BCAF-8B2B9C68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0"/>
            <a:ext cx="4114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Auto-resize image (transform on-the-fly)</a:t>
            </a:r>
            <a:endParaRPr sz="1100"/>
          </a:p>
        </p:txBody>
      </p:sp>
      <p:sp>
        <p:nvSpPr>
          <p:cNvPr id="22" name="Shape 13">
            <a:extLst xmlns:a="http://schemas.openxmlformats.org/drawingml/2006/main">
              <a:ext uri="{FF2B5EF4-FFF2-40B4-BE49-F238E27FC236}">
                <a16:creationId xmlns:a16="http://schemas.microsoft.com/office/drawing/2014/main" id="{BB99B00E-4F2C-4D8E-BCF3-1B36C5F1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49240"/>
            <a:ext cx="466344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3" name="Text 14">
            <a:extLst xmlns:a="http://schemas.openxmlformats.org/drawingml/2006/main">
              <a:ext uri="{FF2B5EF4-FFF2-40B4-BE49-F238E27FC236}">
                <a16:creationId xmlns:a16="http://schemas.microsoft.com/office/drawing/2014/main" id="{2C80829A-B8FE-484E-956B-26AF4068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4434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Kuota Free saat dicek: 1 GB storage dan 5 GB egress.</a:t>
            </a:r>
            <a:endParaRPr sz="1100"/>
          </a:p>
        </p:txBody>
      </p:sp>
      <p:sp>
        <p:nvSpPr>
          <p:cNvPr id="24" name="Shape 15">
            <a:extLst xmlns:a="http://schemas.openxmlformats.org/drawingml/2006/main">
              <a:ext uri="{FF2B5EF4-FFF2-40B4-BE49-F238E27FC236}">
                <a16:creationId xmlns:a16="http://schemas.microsoft.com/office/drawing/2014/main" id="{01C778AA-0F4D-4D52-BFE1-20E45DBA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417320"/>
            <a:ext cx="59436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5" name="Shape 16">
            <a:extLst xmlns:a="http://schemas.openxmlformats.org/drawingml/2006/main">
              <a:ext uri="{FF2B5EF4-FFF2-40B4-BE49-F238E27FC236}">
                <a16:creationId xmlns:a16="http://schemas.microsoft.com/office/drawing/2014/main" id="{A21F10C6-57C9-4DA5-83DD-673DE915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417320"/>
            <a:ext cx="59436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6" name="Shape 17">
            <a:extLst xmlns:a="http://schemas.openxmlformats.org/drawingml/2006/main">
              <a:ext uri="{FF2B5EF4-FFF2-40B4-BE49-F238E27FC236}">
                <a16:creationId xmlns:a16="http://schemas.microsoft.com/office/drawing/2014/main" id="{B07EBA72-49D1-482C-8D20-05B51388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7" name="Shape 18">
            <a:extLst xmlns:a="http://schemas.openxmlformats.org/drawingml/2006/main">
              <a:ext uri="{FF2B5EF4-FFF2-40B4-BE49-F238E27FC236}">
                <a16:creationId xmlns:a16="http://schemas.microsoft.com/office/drawing/2014/main" id="{F50CE7EC-E104-49E9-A1BB-016B58DB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8" name="Shape 19">
            <a:extLst xmlns:a="http://schemas.openxmlformats.org/drawingml/2006/main">
              <a:ext uri="{FF2B5EF4-FFF2-40B4-BE49-F238E27FC236}">
                <a16:creationId xmlns:a16="http://schemas.microsoft.com/office/drawing/2014/main" id="{349584D3-7538-4DD3-A85A-DCBC5ADB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9" name="Text 20">
            <a:extLst xmlns:a="http://schemas.openxmlformats.org/drawingml/2006/main">
              <a:ext uri="{FF2B5EF4-FFF2-40B4-BE49-F238E27FC236}">
                <a16:creationId xmlns:a16="http://schemas.microsoft.com/office/drawing/2014/main" id="{381AE557-DDE7-4BB6-A837-8C7CA90E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1732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upload + download avatar</a:t>
            </a:r>
            <a:endParaRPr sz="900"/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8C75A7A9-326E-4A0E-8FA6-42168847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783080"/>
            <a:ext cx="56692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Upload file ke bucket 'avatars'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const file = event.target.files[0]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const filePath = `${user.id}/avatar.png`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const { data, error } = await supabase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.storage.from('avatars')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.upload(filePath, file, {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cacheControl: '3600',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upsert: true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})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Get public URL (kalau bucket public)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const { data: { publicUrl } } = supabase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.storage.from('avatars')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.getPublicUrl(filePath)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Atau signed URL (expirable - 1 jam)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const { data } = await supabase.storage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.from('docs').createSignedUrl(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'private/file.pdf', 3600)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7587861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97BBA33-8936-466E-B8D3-2C5D4546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523B271-3ACE-4C28-82E8-6E7DBC41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823E018-1B40-45CB-BAB1-E2FF07FC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58e7452d4e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bbeb3d53d49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671CE26-040B-4D22-BECC-4A86E9EA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FA7A083-83E4-4020-A5FA-0F0D88E6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Edge Functions - Custom Server-Side Logic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98509E6-86AA-4FD2-9693-988E5CA4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Deno runtime, deploy ke edge (latency rendah globally)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B382D830-BAB3-4493-96B1-BBD374EB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287F1AD-1A6D-4F1B-A6B7-5D179693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Kapan butuh Edge Function: </a:t>
            </a: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logic yang tidak bisa di-handle SQL/RLS sendiri.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Contoh: integrasi 3rd party API (Stripe webhook), AI inference, sending email, complex business logic.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BED0E4C4-9730-4272-9178-81CA79B9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76B9AB47-95D8-4961-8470-2672932E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614B304-2972-43B8-ADB5-1AABBDC3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99F3D54D-8A73-4BE7-B808-4067EEFB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0BFB870-7A8D-4E2D-9A59-1B8DCFAE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78F7206-059B-490D-999E-BC885225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1460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Edge Function - Stripe webhook</a:t>
            </a:r>
            <a:endParaRPr sz="9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B1C04791-B15D-450C-BC83-B161B7B0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53035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supabase/functions/stripe-webhook/index.ts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import { serve } from 'std/server'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import Stripe from 'stripe'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serve(async (req) =&gt; {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const sig = req.headers.get('stripe-signature')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const body = await req.text()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// Verify signature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const event = stripe.webhooks.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constructEvent(body, sig, secret)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// Update DB pakai service_role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if (event.type === 'payment.succeeded') {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await supabase.from('orders')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.update({ status: 'paid' })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.eq('id', event.data.id)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}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return new Response('OK')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})</a:t>
            </a:r>
            <a:endParaRPr sz="9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50A70FD2-E368-49C2-9081-C330F839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A200675C-9D98-46D2-9681-C8102ECA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19D03D7D-F1E0-4C03-B15B-16245093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D768D35-943A-4BE9-896B-F5C0D41B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8E28A0A-3EAE-4E99-A399-740A7835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2587820-3C21-4CF0-89D6-E3742C6E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51460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deploy + invoke</a:t>
            </a:r>
            <a:endParaRPr sz="9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38A24BDE-D5D7-4683-A801-B64B12B4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80360"/>
            <a:ext cx="52120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Deploy function ke Supabase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supabase functions deploy stripe-webhook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Deployed to: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https://abc.functions.supabase.co/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stripe-webhook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Set secret env var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supabase secrets set STRIPE_KEY=sk_xxx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Invoke dari client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const { data } = await supabase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.functions.invoke('hello-world',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{ body: { name: 'Budi' } })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Local development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supabase functions serve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764786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EEB3D6A-DCAD-4128-93AE-A86697AA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709C67D-4462-40D1-B3DC-391ED164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B76CBF2-9BB1-4966-B704-77AB9154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05E93B1-DB0A-4185-AEB1-CE61C661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6275E53-9543-4781-B1EC-10D0AEEE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F9E2102-0413-48E6-9CB0-9BA64F8D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730A6D1-36A2-4B2E-83F4-D796A28D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b0d19eabc45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2bbeb6b224c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C520C62-385A-40CD-B717-59665070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07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91A0ADA-C194-464F-B7BC-2A6E0954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Production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Tips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7C22B155-DCFD-40BA-9693-30D6664C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601E6ED-9721-44D2-A962-03261CC4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Free tier limits, pitfalls, dan kapan butuh upgrade.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923566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61F9A68-88FE-4A43-9516-A7841122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627C5B9-73FD-4954-BFF1-2CE0EA5D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6D24E02-B6B1-404B-881B-7999550E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24c60b29c43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970caa4f84d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F4AC4C4-CEAE-4453-9DC6-73EAE961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95F85B8-E159-4EF2-949D-E32828EC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Free Tier + Common Pitfalls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8A494BD-9F18-4664-A580-C39890F6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Yang gratis, yang harus diwaspadai, yang sering bikin masalah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93C61A0-E15B-4A5E-94FF-5893FDD7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2120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8A5EAA90-F192-4E5D-AD16-CDE1BACD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89483BA-324E-4C7D-8895-803D8D50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212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Free Tier Specs (per project)</a:t>
            </a:r>
            <a:endParaRPr sz="13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99E4A161-7E92-4811-ACF8-B7EDF16A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4846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5082E70-75AB-48E5-A350-D671314F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Database: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942516B-79AE-4532-8940-A71D61B9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011680"/>
            <a:ext cx="2606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500 MB</a:t>
            </a:r>
            <a:endParaRPr sz="11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DF0A08AF-483D-4A2B-B957-8A1FA83D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60320"/>
            <a:ext cx="4846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051A2F8-C3E3-4CF4-91D3-EEC475D3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Auth users:</a:t>
            </a:r>
            <a:endParaRPr sz="11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A2A05456-E7C9-4075-B778-4BD18B81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560320"/>
            <a:ext cx="2606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50,000 MAU</a:t>
            </a:r>
            <a:endParaRPr sz="11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A69A8F3-589D-49FE-AA6A-5501DBEC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4846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0E4071A-6DB5-4640-94F6-A51D8F44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Storage:</a:t>
            </a:r>
            <a:endParaRPr sz="11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A408C88B-1D86-488B-9C84-36F42C9B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108960"/>
            <a:ext cx="2606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1 GB + 5 GB egress</a:t>
            </a:r>
            <a:endParaRPr sz="11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0ED8B1EB-A07C-4003-91B8-BD8A5D43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4846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F91954A-2F0A-429E-9F27-6B87A1ED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Edge Functions:</a:t>
            </a:r>
            <a:endParaRPr sz="11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70149FBA-12EA-441A-93B4-76D47053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657600"/>
            <a:ext cx="2606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500K invocations</a:t>
            </a:r>
            <a:endParaRPr sz="11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3BC8BD56-C30C-4A28-9A53-6892A04B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4846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8ED52273-0E8B-4DB0-95CC-877B7EF8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0624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Realtime:</a:t>
            </a:r>
            <a:endParaRPr sz="11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A2A31B94-58EC-405C-A7CA-E88B7651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206240"/>
            <a:ext cx="2606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200 concurrent</a:t>
            </a:r>
            <a:endParaRPr sz="11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BFCEF860-944C-4EF0-8E4A-03897E8A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0"/>
            <a:ext cx="4846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7EB1AB9B-5231-4CEB-A320-7E56F3AA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5488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Project:</a:t>
            </a:r>
            <a:endParaRPr sz="11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7B7547C7-49F4-46EB-BC57-1A7C38B8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754880"/>
            <a:ext cx="2606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2 free projects</a:t>
            </a:r>
            <a:endParaRPr sz="110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AF6D415-E774-42AC-BA69-622A41E4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4846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8EE3400B-A38B-44DE-B535-5CABEF18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0352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Pause inactive:</a:t>
            </a:r>
            <a:endParaRPr sz="11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240280B8-36C0-4CD1-BFBD-FE75B85C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5303520"/>
            <a:ext cx="2606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After 1 week!</a:t>
            </a:r>
            <a:endParaRPr sz="11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BDA33830-9DD8-4999-B793-2D41D91F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417320"/>
            <a:ext cx="585216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27B57C6C-2B84-4DA1-8371-39F28AC0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417320"/>
            <a:ext cx="5852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2A061B01-AC06-4047-A990-39FD3AE2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417320"/>
            <a:ext cx="5852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Pitfalls yang Sering Bikin Pusing</a:t>
            </a:r>
            <a:endParaRPr sz="1300"/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60FED616-7E6C-424D-8356-680C379F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11680"/>
            <a:ext cx="54864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1EE5AC62-B95A-40FE-8ED0-B02AB2D3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574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Lupa enable RLS</a:t>
            </a:r>
            <a:endParaRPr sz="11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71751AE2-C5F5-4DDC-BBD0-72C8BEB9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Data public ke siapa saja - massive security hole</a:t>
            </a:r>
            <a:endParaRPr sz="10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93B89FE2-2728-4271-A4A5-0798222F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51760"/>
            <a:ext cx="54864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57D44718-8BF4-4315-8005-C9404C9D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9748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service_role bocor</a:t>
            </a:r>
            <a:endParaRPr sz="11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8AAAF335-A401-40DB-8D45-72E78A4B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9748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Push ke git accidentally = total takeover</a:t>
            </a:r>
            <a:endParaRPr sz="1000"/>
          </a:p>
        </p:txBody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6EF0AA4E-0ADB-486F-A183-90D850AB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91840"/>
            <a:ext cx="54864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EAE11482-5C70-4242-B419-E6DE8A36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3756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Project paused</a:t>
            </a:r>
            <a:endParaRPr sz="11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16C0B51-E026-417E-BC98-9E8982C7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75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Free tier auto-pause 1 minggu tidak aktif. Bangun manual.</a:t>
            </a:r>
            <a:endParaRPr sz="1000"/>
          </a:p>
        </p:txBody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9BABA481-E47F-4277-8D17-9085D550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931920"/>
            <a:ext cx="54864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6DCEA314-B6F8-4D3F-8CDE-95443E7A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7764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RLS recursion</a:t>
            </a:r>
            <a:endParaRPr sz="1100"/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3637CE41-9FD0-4DA0-B1AA-8312AF5A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7764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Policy reference table sendiri bikin infinite loop</a:t>
            </a:r>
            <a:endParaRPr sz="1000"/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95504273-0DB1-4E2D-876A-922A6D5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572000"/>
            <a:ext cx="54864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E7B58906-89D9-4399-9469-87D4D855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1772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Tidak monitor MAU</a:t>
            </a:r>
            <a:endParaRPr sz="1100"/>
          </a:p>
        </p:txBody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F760D784-6366-47DC-901C-C0C35B98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77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Paket Free memberi batasan saat kuota terlampaui</a:t>
            </a:r>
            <a:endParaRPr sz="1000"/>
          </a:p>
        </p:txBody>
      </p:sp>
      <p:sp>
        <p:nvSpPr>
          <p:cNvPr id="52" name="Shape 48">
            <a:extLst xmlns:a="http://schemas.openxmlformats.org/drawingml/2006/main">
              <a:ext uri="{FF2B5EF4-FFF2-40B4-BE49-F238E27FC236}">
                <a16:creationId xmlns:a16="http://schemas.microsoft.com/office/drawing/2014/main" id="{DD0772C8-05C1-4E2E-BD73-299A7DF2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212080"/>
            <a:ext cx="54864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3" name="Text 49">
            <a:extLst xmlns:a="http://schemas.openxmlformats.org/drawingml/2006/main">
              <a:ext uri="{FF2B5EF4-FFF2-40B4-BE49-F238E27FC236}">
                <a16:creationId xmlns:a16="http://schemas.microsoft.com/office/drawing/2014/main" id="{F5D80A50-155F-4641-A12C-D456D356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578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Backup tidak schedule</a:t>
            </a:r>
            <a:endParaRPr sz="1100"/>
          </a:p>
        </p:txBody>
      </p:sp>
      <p:sp>
        <p:nvSpPr>
          <p:cNvPr id="54" name="Text 50">
            <a:extLst xmlns:a="http://schemas.openxmlformats.org/drawingml/2006/main">
              <a:ext uri="{FF2B5EF4-FFF2-40B4-BE49-F238E27FC236}">
                <a16:creationId xmlns:a16="http://schemas.microsoft.com/office/drawing/2014/main" id="{E7B8CAD7-67C4-48BD-8967-18ECA04E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578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Free tier no auto-backup. Setup pg_dump cron sendiri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7005970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D439EB-260D-42DF-8B52-671B8C34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1080AE-FD36-409F-9C77-2A771891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7EABCC1-ADEB-4BBD-98E1-42EDD86D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85047550b4a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ea2d53be244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CB733A40-67E8-4DED-9E31-F24E28B7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8B92A43-8082-44DC-B85C-70E3B396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Kapan Upgrade ke Pro?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B26AE26-94FD-45F9-8714-975443AE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Free tier untuk MVP/learning. Pro untuk production serius.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03C2B91-A3D4-4032-8771-2C2DFE17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197DF2B8-4714-4A99-8FD6-CC19CFD3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5A3ECA2-2757-472E-90E6-C5F190A7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Free</a:t>
            </a:r>
            <a:endParaRPr sz="18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7A3F3914-BE35-4ADF-89BD-8BEC4285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4520"/>
            <a:ext cx="2697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$0</a:t>
            </a:r>
            <a:endParaRPr sz="22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AB407AA-C24A-45EF-B85B-4B95316A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2331720" cy="3566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500 MB DB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 GB storage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50K MAU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Auto-pause after 1 week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Community support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Cocok: belajar, MVP, demo</a:t>
            </a:r>
            <a:endParaRPr sz="11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EE415461-081F-4B3C-B525-E60A2F72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F3CFAAF0-61B0-4585-A8E7-EAAAEB0E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46410DCA-89C1-4260-82F9-5E99411C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50876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</a:t>
            </a:r>
            <a:endParaRPr sz="18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FC92204F-F340-4D0C-96FB-F9D319B8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874520"/>
            <a:ext cx="2697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$25/mo</a:t>
            </a:r>
            <a:endParaRPr sz="22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C533B76-E28A-4B69-B293-80F6EFDA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514600"/>
            <a:ext cx="2331720" cy="3566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8 GB DB included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100 GB storage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100K MAU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 pause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Email support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Daily backup 7 hari</a:t>
            </a:r>
            <a:endParaRPr sz="11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2175D6E-1159-43ED-8A05-C8C59FBF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2DAF918F-31AC-415F-AFE6-82B01287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393F7C3C-DC0E-4CDD-9ABF-F1A8C02C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50876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</a:t>
            </a:r>
            <a:endParaRPr sz="18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376CDAD9-DC58-43F0-A619-3065A34D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874520"/>
            <a:ext cx="2697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$599/mo</a:t>
            </a:r>
            <a:endParaRPr sz="22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6F9FAB0A-F3EC-4AD6-857A-E5F165C4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514600"/>
            <a:ext cx="2331720" cy="3566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Same as Pro +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SOC2 / ISO 27001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SSO + audit logs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Priority email support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Backup harian 14 hari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Compliance-ready</a:t>
            </a:r>
            <a:endParaRPr sz="11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0D7CDF76-13A8-475F-90EB-717D27CF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73D1F832-FFF9-4AD5-AEA2-0608F2BA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E424897-E9A4-4635-ADA9-2840ECED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50876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Enterprise</a:t>
            </a:r>
            <a:endParaRPr sz="18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0F1A259A-8D43-4F2F-B460-1CE51966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874520"/>
            <a:ext cx="2697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Custom</a:t>
            </a:r>
            <a:endParaRPr sz="22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343DB8A7-B412-432B-9EDA-6D873DD2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514600"/>
            <a:ext cx="2331720" cy="3566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Custom infra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Dedicated support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Custom SLA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SLA dan dukungan khusus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Konfigurasi enterprise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Harga sesuai kontrak</a:t>
            </a:r>
            <a:endParaRPr sz="11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07330977-B79E-49B7-A423-B7406E7F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Upgrade saat butuh backup otomatis, kuota lebih, atau layanan tanpa pause.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51438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3E10AC-E11E-4C9C-9EB1-D0839D78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7B4419-B9D5-4C6F-AE07-068DC260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DB9223B-8323-4EB7-83A5-2AFE228C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3a83c72de4e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b97de914c4a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903A901-EB6E-40C1-BA74-FD760618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D29544D-9E64-4C4C-82D2-BD997D92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Cheat Sheet - Supabase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6113251-F8CA-4129-88DB-E6D44794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Print, tempel di samping laptop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E369FA8-A655-46C1-8668-66F8C5EC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E1D3980-97B7-4322-8E77-43E642C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5D78C014-10BC-4064-BB23-5B895AA7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Setup</a:t>
            </a:r>
            <a:endParaRPr sz="13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4892B18A-B30C-49A9-8A73-34109A17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supabase.com signup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Singapore region (ID)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Get URL + anon key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Set Project URL env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NEVER commit service_role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Enable RLS all tables!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0093EBA-4231-45AC-B4E1-C3BA8977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EBF5A961-FE62-4F75-A9A6-75C854F4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FFACBE57-456B-4D03-ABD3-D273C59F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Schema</a:t>
            </a:r>
            <a:endParaRPr sz="13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065200CF-1069-498A-8C2B-2FEC6B6C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Table Editor (UI)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SQL Editor (power)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Enable RLS by default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FK to auth.users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Use uuid primary key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Index foreign keys</a:t>
            </a:r>
            <a:endParaRPr sz="10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E4D9EEB-7830-4A5F-AF03-F3ACB823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6950D5A-DFE0-4347-A1BC-A460AF17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E17443FC-A5B6-4D4D-8B0F-0B2D7CFE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Query JS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398C7332-05CE-411C-832D-168D605F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.from('table').select()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.eq('col', val)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.order('created_at')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.limit(10)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.single()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.insert/update/delete</a:t>
            </a:r>
            <a:endParaRPr sz="105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9B8840C3-3AF2-45C5-B2F3-48D739EF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328A05E-01C0-440B-878A-9C51115E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BB61328-A8C2-4F0A-A9C8-8D9091B3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Auth</a:t>
            </a:r>
            <a:endParaRPr sz="13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B15ED5A0-64FE-4CA5-8E6F-EFFE00D0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signUp({email,pwd})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signInWith{OAuth,Otp}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getUser()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auth.users (table)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auth.uid() (SQL fn)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onAuthStateChange()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87E820A7-E2DB-40C0-B735-30381107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3C2BE7FC-15E4-4C39-85F2-E62F01E6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9ACB5DD5-FAA4-46C8-8F91-3840960C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RLS</a:t>
            </a:r>
            <a:endParaRPr sz="13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D127A485-621A-444A-9F4E-BFFB99EB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ENABLE ROW LEVEL SEC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auth.uid() = user_id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FOR SELECT/INSERT/...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USING (predicate)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WITH CHECK (insert)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Default DENY all</a:t>
            </a:r>
            <a:endParaRPr sz="10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063C9ABD-9A8E-47DE-82D4-750D520C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D76FBD1B-B4FE-45F9-B200-FCC8E37A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636B75FA-8EDA-456A-B3FC-0D5D9C8C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Realtime</a:t>
            </a:r>
            <a:endParaRPr sz="13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76BE1B9B-7A71-43DC-8D65-01470E6A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.channel('xxx')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.on('postgres_changes'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event: '*'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filter: 'col=eq.val'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.subscribe()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Enable Replication</a:t>
            </a:r>
            <a:endParaRPr sz="105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6D313D40-E0E8-404A-AC7A-67B6D904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5107602-9B90-41E4-9423-4FB1F026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67423DD-845C-495C-AD8C-3E330323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Storage</a:t>
            </a:r>
            <a:endParaRPr sz="13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C7EFDB48-0217-430D-BD26-940D91C8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.storage.from('bucket')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.upload(path, file)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.getPublicUrl(path)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.createSignedUrl()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Bucket policy = RLS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CDN-cached</a:t>
            </a:r>
            <a:endParaRPr sz="105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DEECFEAF-DFC7-427F-925C-094566E0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2372EB03-2902-4C59-A5DA-1F8E93B3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EB547C7B-769C-4E2D-B3A5-F1453131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</a:t>
            </a:r>
            <a:endParaRPr sz="13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00839BE0-E999-47C6-A58B-A40C4F3C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supabase init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supabase link --ref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supabase db push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supabase functions deploy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supabase secrets set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supabase start (local)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07722289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BD04F-BEB6-4261-8FB4-CBAEB2DE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DB88BFB-9327-4884-81D3-DBC9688C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1F7FA0-5067-4710-B8B3-8B430C62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39c1d505942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3d23caa9e4c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5658989-D937-4E91-818F-FAA88B84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80C006B-1E97-45A1-8535-7F9BC74D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Wrap-Up &amp; Persiapan Pertemuan 8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0AAFD4B-B31C-4156-AB5C-A4AC3E36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Vercel + Frontend Deploy minggu depan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67EF9E41-0528-475B-9548-58B1A539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Key Takeaways Hari Ini</a:t>
            </a:r>
            <a:endParaRPr sz="160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D30F6F7-8946-45E6-955D-5D51DC90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E9C26ED-BD0A-4174-873A-169F28E4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1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D3277BAE-7559-49FD-89BE-855F0350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BaaS = managed backend, time-to-market cepat (vs self-hosted).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3D550967-898B-46D2-AF02-B52A521C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C73977C6-69D6-4D95-87D6-B52C9B68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1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3F71C12B-FBA7-4DD6-9B4E-DEF64DF8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17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Supabase = Postgres + Auth + Auto API + Realtime + Storage.</a:t>
            </a:r>
            <a:endParaRPr sz="105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0AEB87BC-4C4A-4E6C-82B4-0D8221D4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B97BEBFB-0A06-4AD7-BFE8-9D818C16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1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7EB2A2FC-C848-45C3-A104-E30B3A16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889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PostgREST: schema -&gt; auto REST API. Tidak perlu tulis backend.</a:t>
            </a:r>
            <a:endParaRPr sz="10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993D3BF4-B77C-453D-8731-7F890E69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E295A192-8133-4F11-9CB7-96353990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1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0D70F57F-3EDC-4904-9253-57B65D9B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anon key di frontend (subject to RLS), service_role di backend.</a:t>
            </a:r>
            <a:endParaRPr sz="105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F3E92345-30B8-451C-8DDA-54B5B15A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2037B4-C4DA-4FFC-92FF-38DFA15F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1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8D8F2EE3-8D19-4F63-AC70-76AE4B21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033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RLS WAJIB enable. Default deny, policy = WHERE clause auto.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DE0FFDD-30F9-42DE-A6C3-849FCF05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54EEBB0-CFB8-427F-AC08-50E663EF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1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799D5DA-1B12-41F2-8BCE-456693AE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auth.uid() = user_id - pattern paling umum di policy.</a:t>
            </a:r>
            <a:endParaRPr sz="105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BC7DE4BF-F98B-4698-8F8C-F26E8AEC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34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D6499D97-6C7F-453E-8C94-3CB50039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34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1E4A81DF-05B9-4BD4-A7CF-7E070EDB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177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Realtime: subscribe DB changes via WebSocket - no polling.</a:t>
            </a:r>
            <a:endParaRPr sz="10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FFD09633-3F47-47B0-B9E8-8B5A19C9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8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2ccabc67b48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5544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1063D67E-0FC8-485B-8205-6F36CD83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55448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7 - LATIHAN SESI INI</a:t>
            </a:r>
            <a:endParaRPr sz="1100"/>
          </a:p>
        </p:txBody>
      </p:sp>
      <p:sp>
        <p:nvSpPr>
          <p:cNvPr id="35" name="Text 30">
            <a:extLst xmlns:a="http://schemas.openxmlformats.org/drawingml/2006/main">
              <a:ext uri="{FF2B5EF4-FFF2-40B4-BE49-F238E27FC236}">
                <a16:creationId xmlns:a16="http://schemas.microsoft.com/office/drawing/2014/main" id="{1D66298F-63B2-44A0-BBDF-8D59140B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5212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Buktikan isolasi data dan pencarian vektor</a:t>
            </a:r>
            <a:endParaRPr sz="1300"/>
          </a:p>
        </p:txBody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899292CD-83E2-4CA2-A8ED-B816F341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5120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Jalankan PostgreSQL + pgvector lokal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Aktifkan RLS; uji SET ROLE Alice dan Bob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Jalankan query vektor dengan operator &lt;-&gt;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Supabase Auth/Storage adalah jalur opsional</a:t>
            </a:r>
            <a:endParaRPr sz="1050"/>
          </a:p>
        </p:txBody>
      </p:sp>
      <p:sp>
        <p:nvSpPr>
          <p:cNvPr id="37" name="Shape 32">
            <a:extLst xmlns:a="http://schemas.openxmlformats.org/drawingml/2006/main">
              <a:ext uri="{FF2B5EF4-FFF2-40B4-BE49-F238E27FC236}">
                <a16:creationId xmlns:a16="http://schemas.microsoft.com/office/drawing/2014/main" id="{FDCCECC6-C9E1-40F8-BCE9-F8804016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657600"/>
            <a:ext cx="5486400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cac1a9dcf41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7947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2C651FD4-E635-426F-AA29-33875E58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79476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PERTEMUAN 8</a:t>
            </a:r>
            <a:endParaRPr sz="1100"/>
          </a:p>
        </p:txBody>
      </p:sp>
      <p:sp>
        <p:nvSpPr>
          <p:cNvPr id="40" name="Text 34">
            <a:extLst xmlns:a="http://schemas.openxmlformats.org/drawingml/2006/main">
              <a:ext uri="{FF2B5EF4-FFF2-40B4-BE49-F238E27FC236}">
                <a16:creationId xmlns:a16="http://schemas.microsoft.com/office/drawing/2014/main" id="{70996020-347F-43CB-BEB8-419FB67F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5196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Vercel - Frontend Deploy</a:t>
            </a:r>
            <a:endParaRPr sz="1400"/>
          </a:p>
        </p:txBody>
      </p:sp>
      <p:sp>
        <p:nvSpPr>
          <p:cNvPr id="41" name="Text 35">
            <a:extLst xmlns:a="http://schemas.openxmlformats.org/drawingml/2006/main">
              <a:ext uri="{FF2B5EF4-FFF2-40B4-BE49-F238E27FC236}">
                <a16:creationId xmlns:a16="http://schemas.microsoft.com/office/drawing/2014/main" id="{91727104-734D-41D1-A127-B85CD842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52120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Deploy Next.js/React ke Vercel. Edge runtime, environment management, custom domain.</a:t>
            </a:r>
            <a:endParaRPr sz="1100"/>
          </a:p>
        </p:txBody>
      </p:sp>
      <p:sp>
        <p:nvSpPr>
          <p:cNvPr id="42" name="Shape 36">
            <a:extLst xmlns:a="http://schemas.openxmlformats.org/drawingml/2006/main">
              <a:ext uri="{FF2B5EF4-FFF2-40B4-BE49-F238E27FC236}">
                <a16:creationId xmlns:a16="http://schemas.microsoft.com/office/drawing/2014/main" id="{54DA353F-6B7A-42A9-AA88-5DD0924E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548640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9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08874ef4741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525780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4F709650-B331-4303-8F1B-46040826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07492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Pertanyaan?</a:t>
            </a:r>
            <a:endParaRPr sz="2200"/>
          </a:p>
        </p:txBody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2B9B8937-F60A-4C21-A72C-39125877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57784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Diskusi sebelum praktikum</a:t>
            </a:r>
            <a:endParaRPr sz="1200"/>
          </a:p>
        </p:txBody>
      </p:sp>
      <p:sp>
        <p:nvSpPr>
          <p:cNvPr id="46" name="Shape 39">
            <a:extLst xmlns:a="http://schemas.openxmlformats.org/drawingml/2006/main">
              <a:ext uri="{FF2B5EF4-FFF2-40B4-BE49-F238E27FC236}">
                <a16:creationId xmlns:a16="http://schemas.microsoft.com/office/drawing/2014/main" id="{578082FF-F9DC-496E-A7CC-6563B8B4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440680"/>
            <a:ext cx="54864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47" name="Text 40">
            <a:extLst xmlns:a="http://schemas.openxmlformats.org/drawingml/2006/main">
              <a:ext uri="{FF2B5EF4-FFF2-40B4-BE49-F238E27FC236}">
                <a16:creationId xmlns:a16="http://schemas.microsoft.com/office/drawing/2014/main" id="{459A8066-6EC6-48DF-9752-D0ABF22C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440680"/>
            <a:ext cx="5486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Sesi ini mendukung:  </a:t>
            </a: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LO2 (Apply)</a:t>
            </a:r>
            <a:r>
              <a:rPr sz="1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  +  </a:t>
            </a: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LO1 (Analyze)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975460666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DC25D86-2AA4-867B-DF38-271B1109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800"/>
            <a:ext cx="88900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BINUS UNIVERSITY  |  Cloud Services  |  Pertemuan 7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355B285-FC06-6E4B-8BBF-0F34E0F1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3100"/>
            <a:ext cx="112776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04690"/>
                </a:solidFill>
                <a:latin typeface="Calibri"/>
                <a:ea typeface="Calibri"/>
                <a:cs typeface="Calibri"/>
              </a:rPr>
              <a:t>Auth, RLS, dan data vektor</a:t>
            </a:r>
            <a:endParaRPr sz="2800" b="1">
              <a:solidFill>
                <a:srgbClr val="00469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1544EB7-2C0E-7420-7D05-375D0CAD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 i="1">
                <a:solidFill>
                  <a:srgbClr val="606060"/>
                </a:solidFill>
                <a:latin typeface="Calibri"/>
                <a:ea typeface="Calibri"/>
                <a:cs typeface="Calibri"/>
              </a:rPr>
              <a:t>Supabase sebagai backend terkelola dan Postgres lokal sebagai latihan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D30DB6-99A2-7E7A-9062-BF0AAE1C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0447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</a:t>
            </a:r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Buat dua role lokal; aktifkan RLS dan policy per pemilik data.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EECA33E-EA2B-4AC7-6356-0B97067D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448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</a:t>
            </a:r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Uji SET ROLE Alice/Bob: masing-masing hanya membaca datanya.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764A83F-30C4-CA82-FE34-178E8A1F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6449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</a:t>
            </a:r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Jalankan pgvector lokal; Supabase Auth/Storage opsional.</a:t>
            </a:r>
            <a:endParaRPr>
              <a:solidFill>
                <a:srgbClr val="10191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C6DDB82-8173-A7F0-123D-892B4429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450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service_role tidak boleh masuk frontend atau commit Git.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52CD5D3-535E-D7C0-FFB9-36857286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2451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Contoh SQL dan uji lokal tersedia di </a:t>
            </a:r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449d5a4433b40dc"/>
              </a:rPr>
              <a:t>SeedFlora/meet7CloudService</a:t>
            </a:r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DCC8C6C-AAEA-01A7-CC27-6BC664F2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3500"/>
            <a:ext cx="112776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Materi praktik: </a:t>
            </a:r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ade55e50f324e77"/>
              </a:rPr>
              <a:t>SeedFlora/meet7CloudService</a:t>
            </a:r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  |  Sumber: RPS COMP6991031</a:t>
            </a:r>
          </a:p>
        </p:txBody>
      </p:sp>
    </p:spTree>
    <p:extLst>
      <p:ext uri="{BB962C8B-B14F-4D97-AF65-F5344CB8AC3E}">
        <p14:creationId xmlns:p14="http://schemas.microsoft.com/office/powerpoint/2010/main" val="359737286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A993C-28E2-420F-BF87-F88B0B3E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BINUS UNIVERSITY  |  Cloud Services  |  Pertemuan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65621-A879-4530-89A0-DD56E319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64C8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64C8C"/>
                </a:solidFill>
                <a:latin typeface="Arial"/>
                <a:ea typeface="Arial"/>
                <a:cs typeface="Arial"/>
              </a:rPr>
              <a:t>Dari RLS ke Lab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A1B42-13C0-45B3-B1B7-890814A2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581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Kasus kerja: dua staf memakai database yang sama. Setiap staf hanya boleh melihat datanya sendiri, sementara tim mencari catatan serupa.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44481-9706-47DA-BB90-10EBD29D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557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A36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3678"/>
                </a:solidFill>
                <a:latin typeface="Arial"/>
                <a:ea typeface="Arial"/>
                <a:cs typeface="Arial"/>
              </a:rPr>
              <a:t>Sebelum praktikum (10–15 menit)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6B3EE-5512-4F9A-864D-8236DEEA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5810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Prediksi: apa yang mencegah Alice membaca baris milik Bob?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E3A20-44AA-456B-8A9E-9EE37BEA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969A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969AD"/>
                </a:solidFill>
                <a:latin typeface="Arial"/>
                <a:ea typeface="Arial"/>
                <a:cs typeface="Arial"/>
                <a:hlinkClick xmlns:r="http://schemas.openxmlformats.org/officeDocument/2006/relationships" r:id="Rad36b14a8f1a4912"/>
              </a:rPr>
              <a:t>Bacaan: Row Level Security (Supabase)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5C607-74D4-4303-A02C-568192FF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969A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969AD"/>
                </a:solidFill>
                <a:latin typeface="Arial"/>
                <a:ea typeface="Arial"/>
                <a:cs typeface="Arial"/>
                <a:hlinkClick xmlns:r="http://schemas.openxmlformats.org/officeDocument/2006/relationships" r:id="R8746501559de4ac7"/>
              </a:rPr>
              <a:t>Video: Getting Started with Supabase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07FBD-C9CF-4B81-A881-301F1054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167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969A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969AD"/>
                </a:solidFill>
                <a:latin typeface="Arial"/>
                <a:ea typeface="Arial"/>
                <a:cs typeface="Arial"/>
                <a:hlinkClick xmlns:r="http://schemas.openxmlformats.org/officeDocument/2006/relationships" r:id="Rce5cfbf57a78495c"/>
              </a:rPr>
              <a:t>Buka repo Lab 07: SeedFlora/meet7CloudService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AAFA8-0192-4866-89AF-C9BED14F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76975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2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270"/>
                </a:solidFill>
                <a:latin typeface="Arial"/>
                <a:ea typeface="Arial"/>
                <a:cs typeface="Arial"/>
              </a:rPr>
              <a:t>Proyek kelompok 3 orang: presentasi UTS minggu 7 dan UAS minggu 14.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9631054d14871"/>
          <a:stretch xmlns:a="http://schemas.openxmlformats.org/drawingml/2006/main"/>
        </p:blipFill>
        <p:spPr>
          <a:xfrm xmlns:a="http://schemas.openxmlformats.org/drawingml/2006/main">
            <a:off x="6534150" y="1700213"/>
            <a:ext cx="5200650" cy="3467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95109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2026-10-07T18:59:25.0510000Z</dcterms:created>
  <dcterms:modified xsi:type="dcterms:W3CDTF">2026-10-07T18:59:25.0520000Z</dcterms:modified>
</coreProperties>
</file>